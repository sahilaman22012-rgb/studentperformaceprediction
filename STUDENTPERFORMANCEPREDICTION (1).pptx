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8"/>
  </p:notesMasterIdLst>
  <p:handoutMasterIdLst>
    <p:handoutMasterId r:id="rId19"/>
  </p:handoutMasterIdLst>
  <p:sldIdLst>
    <p:sldId id="256" r:id="rId5"/>
    <p:sldId id="258" r:id="rId6"/>
    <p:sldId id="275" r:id="rId7"/>
    <p:sldId id="260" r:id="rId8"/>
    <p:sldId id="276" r:id="rId9"/>
    <p:sldId id="277" r:id="rId10"/>
    <p:sldId id="280" r:id="rId11"/>
    <p:sldId id="278" r:id="rId12"/>
    <p:sldId id="279" r:id="rId13"/>
    <p:sldId id="282" r:id="rId14"/>
    <p:sldId id="284" r:id="rId15"/>
    <p:sldId id="283" r:id="rId16"/>
    <p:sldId id="27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AD31F6-AA65-4BE6-BECF-921134DF48A6}" v="3" dt="2025-11-14T09:14:56.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snapToObjects="1">
      <p:cViewPr varScale="1">
        <p:scale>
          <a:sx n="70" d="100"/>
          <a:sy n="70" d="100"/>
        </p:scale>
        <p:origin x="536" y="52"/>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il Aman" userId="127b9a16b8e2eef6" providerId="LiveId" clId="{56A455E0-F463-4BCC-BBDE-13FD1A3F9A30}"/>
    <pc:docChg chg="custSel modSld">
      <pc:chgData name="Sahil Aman" userId="127b9a16b8e2eef6" providerId="LiveId" clId="{56A455E0-F463-4BCC-BBDE-13FD1A3F9A30}" dt="2025-11-14T09:15:51.720" v="17" actId="478"/>
      <pc:docMkLst>
        <pc:docMk/>
      </pc:docMkLst>
      <pc:sldChg chg="delSp mod">
        <pc:chgData name="Sahil Aman" userId="127b9a16b8e2eef6" providerId="LiveId" clId="{56A455E0-F463-4BCC-BBDE-13FD1A3F9A30}" dt="2025-11-14T09:15:51.720" v="17" actId="478"/>
        <pc:sldMkLst>
          <pc:docMk/>
          <pc:sldMk cId="504439288" sldId="278"/>
        </pc:sldMkLst>
        <pc:spChg chg="del">
          <ac:chgData name="Sahil Aman" userId="127b9a16b8e2eef6" providerId="LiveId" clId="{56A455E0-F463-4BCC-BBDE-13FD1A3F9A30}" dt="2025-11-14T09:15:51.720" v="17" actId="478"/>
          <ac:spMkLst>
            <pc:docMk/>
            <pc:sldMk cId="504439288" sldId="278"/>
            <ac:spMk id="2" creationId="{F11E8457-5118-5DE4-CB82-6D9A119E4E23}"/>
          </ac:spMkLst>
        </pc:spChg>
        <pc:spChg chg="del">
          <ac:chgData name="Sahil Aman" userId="127b9a16b8e2eef6" providerId="LiveId" clId="{56A455E0-F463-4BCC-BBDE-13FD1A3F9A30}" dt="2025-11-14T09:15:51.720" v="17" actId="478"/>
          <ac:spMkLst>
            <pc:docMk/>
            <pc:sldMk cId="504439288" sldId="278"/>
            <ac:spMk id="3" creationId="{F13FAB20-E4BD-D552-82E0-2EB9A50D87AF}"/>
          </ac:spMkLst>
        </pc:spChg>
      </pc:sldChg>
      <pc:sldChg chg="addSp modSp mod">
        <pc:chgData name="Sahil Aman" userId="127b9a16b8e2eef6" providerId="LiveId" clId="{56A455E0-F463-4BCC-BBDE-13FD1A3F9A30}" dt="2025-11-14T09:15:30.367" v="16" actId="12"/>
        <pc:sldMkLst>
          <pc:docMk/>
          <pc:sldMk cId="1273113114" sldId="280"/>
        </pc:sldMkLst>
        <pc:spChg chg="mod">
          <ac:chgData name="Sahil Aman" userId="127b9a16b8e2eef6" providerId="LiveId" clId="{56A455E0-F463-4BCC-BBDE-13FD1A3F9A30}" dt="2025-11-14T09:15:30.367" v="16" actId="12"/>
          <ac:spMkLst>
            <pc:docMk/>
            <pc:sldMk cId="1273113114" sldId="280"/>
            <ac:spMk id="5" creationId="{4EACF3AB-79B1-A740-24B2-3D61A726AA31}"/>
          </ac:spMkLst>
        </pc:spChg>
        <pc:picChg chg="add mod">
          <ac:chgData name="Sahil Aman" userId="127b9a16b8e2eef6" providerId="LiveId" clId="{56A455E0-F463-4BCC-BBDE-13FD1A3F9A30}" dt="2025-11-14T09:14:21.499" v="10" actId="1076"/>
          <ac:picMkLst>
            <pc:docMk/>
            <pc:sldMk cId="1273113114" sldId="280"/>
            <ac:picMk id="9" creationId="{FF04FD71-9500-C594-964B-91040C4075A9}"/>
          </ac:picMkLst>
        </pc:picChg>
        <pc:picChg chg="add mod">
          <ac:chgData name="Sahil Aman" userId="127b9a16b8e2eef6" providerId="LiveId" clId="{56A455E0-F463-4BCC-BBDE-13FD1A3F9A30}" dt="2025-11-14T09:14:08.006" v="9" actId="1076"/>
          <ac:picMkLst>
            <pc:docMk/>
            <pc:sldMk cId="1273113114" sldId="280"/>
            <ac:picMk id="11" creationId="{023C0D97-7D35-297F-377B-337038569F4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11/14/2025</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11/14/2025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a:t>
            </a:fld>
            <a:endParaRPr lang="en-US" dirty="0"/>
          </a:p>
        </p:txBody>
      </p:sp>
    </p:spTree>
    <p:extLst>
      <p:ext uri="{BB962C8B-B14F-4D97-AF65-F5344CB8AC3E}">
        <p14:creationId xmlns:p14="http://schemas.microsoft.com/office/powerpoint/2010/main" val="163665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DA48B-7E3F-F3D5-1AC2-1C94C0B65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AFA0A-0E5E-5225-7E45-AFA07D385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92280-AD7F-039D-E184-55B280EEBB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AF17CA-6653-1015-C53E-12C5308C0CDD}"/>
              </a:ext>
            </a:extLst>
          </p:cNvPr>
          <p:cNvSpPr>
            <a:spLocks noGrp="1"/>
          </p:cNvSpPr>
          <p:nvPr>
            <p:ph type="sldNum" sz="quarter" idx="5"/>
          </p:nvPr>
        </p:nvSpPr>
        <p:spPr/>
        <p:txBody>
          <a:bodyPr/>
          <a:lstStyle/>
          <a:p>
            <a:fld id="{F3544625-0ADF-4414-89A2-9E135F0C849F}" type="slidenum">
              <a:rPr lang="en-US" smtClean="0"/>
              <a:t>3</a:t>
            </a:fld>
            <a:endParaRPr lang="en-US" dirty="0"/>
          </a:p>
        </p:txBody>
      </p:sp>
    </p:spTree>
    <p:extLst>
      <p:ext uri="{BB962C8B-B14F-4D97-AF65-F5344CB8AC3E}">
        <p14:creationId xmlns:p14="http://schemas.microsoft.com/office/powerpoint/2010/main" val="2185580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4</a:t>
            </a:fld>
            <a:endParaRPr lang="en-US" dirty="0"/>
          </a:p>
        </p:txBody>
      </p:sp>
    </p:spTree>
    <p:extLst>
      <p:ext uri="{BB962C8B-B14F-4D97-AF65-F5344CB8AC3E}">
        <p14:creationId xmlns:p14="http://schemas.microsoft.com/office/powerpoint/2010/main" val="724031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7F841-4759-A8CD-24A4-AA74C971A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41DDE-2F1A-D5A1-307D-1D2794F65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DE482-6768-6AFE-86D2-CDAB1BA245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3F555D-DB4D-7674-01A0-EAF0C9404ECA}"/>
              </a:ext>
            </a:extLst>
          </p:cNvPr>
          <p:cNvSpPr>
            <a:spLocks noGrp="1"/>
          </p:cNvSpPr>
          <p:nvPr>
            <p:ph type="sldNum" sz="quarter" idx="5"/>
          </p:nvPr>
        </p:nvSpPr>
        <p:spPr/>
        <p:txBody>
          <a:bodyPr/>
          <a:lstStyle/>
          <a:p>
            <a:fld id="{F3544625-0ADF-4414-89A2-9E135F0C849F}" type="slidenum">
              <a:rPr lang="en-US" smtClean="0"/>
              <a:t>5</a:t>
            </a:fld>
            <a:endParaRPr lang="en-US" dirty="0"/>
          </a:p>
        </p:txBody>
      </p:sp>
    </p:spTree>
    <p:extLst>
      <p:ext uri="{BB962C8B-B14F-4D97-AF65-F5344CB8AC3E}">
        <p14:creationId xmlns:p14="http://schemas.microsoft.com/office/powerpoint/2010/main" val="1550925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13</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7DE6118-2437-4B30-8E3C-4D2BE6020583}" type="datetimeFigureOut">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DE6118-2437-4B30-8E3C-4D2BE6020583}" type="datetimeFigureOut">
              <a:rPr lang="en-US" smtClean="0"/>
              <a:pPr/>
              <a:t>11/14/2025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www.geeksforgeeks.org/machine-learning/understanding-logistic-regressio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www.geeksforgeeks.org/machine-learning/k-nearest-neighbour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www.geeksforgeeks.org/machine-learning/support-vector-machine-algorith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www.geeksforgeeks.org/dsa/random-forest-classifier-using-scikit-learn/"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hyperlink" Target="https://www.geeksforgeeks.org/machine-learning/naive-bayes-classifier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ight sky with mountains far away on the horizon">
            <a:extLst>
              <a:ext uri="{FF2B5EF4-FFF2-40B4-BE49-F238E27FC236}">
                <a16:creationId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40C7600-5BA8-4A54-887F-74AF87750A31}"/>
              </a:ext>
            </a:extLst>
          </p:cNvPr>
          <p:cNvSpPr>
            <a:spLocks noGrp="1"/>
          </p:cNvSpPr>
          <p:nvPr>
            <p:ph type="ctrTitle"/>
          </p:nvPr>
        </p:nvSpPr>
        <p:spPr>
          <a:xfrm>
            <a:off x="3962399" y="2554817"/>
            <a:ext cx="7197726" cy="2421464"/>
          </a:xfrm>
        </p:spPr>
        <p:txBody>
          <a:bodyPr>
            <a:normAutofit/>
          </a:bodyPr>
          <a:lstStyle/>
          <a:p>
            <a:pPr algn="ctr"/>
            <a:r>
              <a:rPr lang="en-US" b="1" dirty="0">
                <a:latin typeface="Copperplate Gothic Bold" panose="020E0705020206020404" pitchFamily="34" charset="0"/>
              </a:rPr>
              <a:t>STUDENT PERFORMANCE PREDICTION</a:t>
            </a:r>
          </a:p>
        </p:txBody>
      </p:sp>
    </p:spTree>
    <p:extLst>
      <p:ext uri="{BB962C8B-B14F-4D97-AF65-F5344CB8AC3E}">
        <p14:creationId xmlns:p14="http://schemas.microsoft.com/office/powerpoint/2010/main" val="3417721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6143423" cy="1456267"/>
          </a:xfrm>
        </p:spPr>
        <p:txBody>
          <a:bodyPr>
            <a:normAutofit/>
          </a:bodyPr>
          <a:lstStyle/>
          <a:p>
            <a:r>
              <a:rPr lang="en-US" u="sng" dirty="0">
                <a:latin typeface="Copperplate Gothic Bold" panose="020E0705020206020404" pitchFamily="34" charset="0"/>
              </a:rPr>
              <a:t>PROBLEM </a:t>
            </a:r>
            <a:r>
              <a:rPr lang="en-US" u="sng" dirty="0" err="1">
                <a:latin typeface="Copperplate Gothic Bold" panose="020E0705020206020404" pitchFamily="34" charset="0"/>
              </a:rPr>
              <a:t>sTATEMENT</a:t>
            </a:r>
            <a:endParaRPr lang="ru-RU" u="sng" dirty="0"/>
          </a:p>
        </p:txBody>
      </p:sp>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4"/>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grpSp>
        <p:nvGrpSpPr>
          <p:cNvPr id="179" name="Group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reeform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1" name="Group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Straight Connector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oup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reeform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3" name="Group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Straight Connector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5"/>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8" name="TextBox 7">
            <a:extLst>
              <a:ext uri="{FF2B5EF4-FFF2-40B4-BE49-F238E27FC236}">
                <a16:creationId xmlns:a16="http://schemas.microsoft.com/office/drawing/2014/main" id="{2101550E-76D9-B98C-F000-765F88F6C087}"/>
              </a:ext>
            </a:extLst>
          </p:cNvPr>
          <p:cNvSpPr txBox="1"/>
          <p:nvPr/>
        </p:nvSpPr>
        <p:spPr>
          <a:xfrm>
            <a:off x="685801" y="1928947"/>
            <a:ext cx="6143422" cy="4154984"/>
          </a:xfrm>
          <a:prstGeom prst="rect">
            <a:avLst/>
          </a:prstGeom>
          <a:noFill/>
        </p:spPr>
        <p:txBody>
          <a:bodyPr wrap="square" rtlCol="0">
            <a:spAutoFit/>
          </a:bodyPr>
          <a:lstStyle/>
          <a:p>
            <a:r>
              <a:rPr lang="en-US" sz="2400" dirty="0"/>
              <a:t>Students often struggle academically due to multiple factors such as study habits, test preparation, parental education, and socio-economic background. Teachers and institutions lack a data-driven method to identify at-risk students early. The problem is to build a machine learning model that predicts a student's performance (final grade) based on various academic and demographic features, so that timely interventions can be provided.</a:t>
            </a:r>
            <a:r>
              <a:rPr lang="en-US" sz="2400" dirty="0">
                <a:latin typeface="Copperplate Gothic Light" panose="020E0507020206020404" pitchFamily="34" charset="0"/>
              </a:rPr>
              <a:t> </a:t>
            </a:r>
          </a:p>
          <a:p>
            <a:endParaRPr lang="en-IN" sz="2400" dirty="0">
              <a:latin typeface="Copperplate Gothic Light" panose="020E0507020206020404" pitchFamily="34" charset="0"/>
            </a:endParaRPr>
          </a:p>
        </p:txBody>
      </p:sp>
    </p:spTree>
    <p:extLst>
      <p:ext uri="{BB962C8B-B14F-4D97-AF65-F5344CB8AC3E}">
        <p14:creationId xmlns:p14="http://schemas.microsoft.com/office/powerpoint/2010/main" val="291382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35E-63B7-9E4D-58B0-F4560F92F482}"/>
            </a:ext>
          </a:extLst>
        </p:cNvPr>
        <p:cNvGrpSpPr/>
        <p:nvPr/>
      </p:nvGrpSpPr>
      <p:grpSpPr>
        <a:xfrm>
          <a:off x="0" y="0"/>
          <a:ext cx="0" cy="0"/>
          <a:chOff x="0" y="0"/>
          <a:chExt cx="0" cy="0"/>
        </a:xfrm>
      </p:grpSpPr>
      <p:pic>
        <p:nvPicPr>
          <p:cNvPr id="5" name="Picture 4" descr="night sky with mountains far away on the horizon">
            <a:extLst>
              <a:ext uri="{FF2B5EF4-FFF2-40B4-BE49-F238E27FC236}">
                <a16:creationId xmlns:a16="http://schemas.microsoft.com/office/drawing/2014/main" id="{57C48BCF-83E3-D446-03C5-F4F05263281F}"/>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4A6B327-EA58-EBFC-9357-481BE5E963B7}"/>
              </a:ext>
            </a:extLst>
          </p:cNvPr>
          <p:cNvSpPr>
            <a:spLocks noGrp="1"/>
          </p:cNvSpPr>
          <p:nvPr>
            <p:ph type="ctrTitle"/>
          </p:nvPr>
        </p:nvSpPr>
        <p:spPr>
          <a:xfrm>
            <a:off x="4163567" y="417683"/>
            <a:ext cx="7197726" cy="961091"/>
          </a:xfrm>
        </p:spPr>
        <p:txBody>
          <a:bodyPr>
            <a:normAutofit/>
          </a:bodyPr>
          <a:lstStyle/>
          <a:p>
            <a:pPr algn="ctr"/>
            <a:r>
              <a:rPr lang="en-US" sz="4400" b="1" u="sng" dirty="0">
                <a:latin typeface="Copperplate Gothic Bold" panose="020E0705020206020404" pitchFamily="34" charset="0"/>
              </a:rPr>
              <a:t>Aim of the project</a:t>
            </a:r>
          </a:p>
        </p:txBody>
      </p:sp>
      <p:sp>
        <p:nvSpPr>
          <p:cNvPr id="3" name="TextBox 2">
            <a:extLst>
              <a:ext uri="{FF2B5EF4-FFF2-40B4-BE49-F238E27FC236}">
                <a16:creationId xmlns:a16="http://schemas.microsoft.com/office/drawing/2014/main" id="{1BDE62E5-4AF2-A670-639B-1DA387B03BF0}"/>
              </a:ext>
            </a:extLst>
          </p:cNvPr>
          <p:cNvSpPr txBox="1"/>
          <p:nvPr/>
        </p:nvSpPr>
        <p:spPr>
          <a:xfrm>
            <a:off x="3898392" y="1627632"/>
            <a:ext cx="8293608" cy="4401205"/>
          </a:xfrm>
          <a:prstGeom prst="rect">
            <a:avLst/>
          </a:prstGeom>
          <a:noFill/>
        </p:spPr>
        <p:txBody>
          <a:bodyPr wrap="square" rtlCol="0">
            <a:spAutoFit/>
          </a:bodyPr>
          <a:lstStyle/>
          <a:p>
            <a:r>
              <a:rPr lang="en-US" sz="2800" dirty="0">
                <a:latin typeface="Copperplate Gothic Light" panose="020E0507020206020404" pitchFamily="34" charset="0"/>
              </a:rPr>
              <a:t>The aim of this project is to analyze student-related factors such as study hours, attendance, parental background, test scores, and socio-economic indicators, and to build an optimized machine learning classification model that accurately predicts their final grade or performance level. The system aims to support early intervention and improve academic decision-making.</a:t>
            </a:r>
            <a:endParaRPr lang="en-IN" sz="2800" dirty="0">
              <a:latin typeface="Copperplate Gothic Light" panose="020E0507020206020404" pitchFamily="34" charset="0"/>
            </a:endParaRPr>
          </a:p>
        </p:txBody>
      </p:sp>
    </p:spTree>
    <p:extLst>
      <p:ext uri="{BB962C8B-B14F-4D97-AF65-F5344CB8AC3E}">
        <p14:creationId xmlns:p14="http://schemas.microsoft.com/office/powerpoint/2010/main" val="1049669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5C2B808-D15F-3EA7-AF4E-3CE3DFE954EC}"/>
              </a:ext>
            </a:extLst>
          </p:cNvPr>
          <p:cNvSpPr txBox="1"/>
          <p:nvPr/>
        </p:nvSpPr>
        <p:spPr>
          <a:xfrm>
            <a:off x="3355848" y="292608"/>
            <a:ext cx="4458721" cy="830997"/>
          </a:xfrm>
          <a:prstGeom prst="rect">
            <a:avLst/>
          </a:prstGeom>
          <a:noFill/>
        </p:spPr>
        <p:txBody>
          <a:bodyPr wrap="none" rtlCol="0">
            <a:spAutoFit/>
          </a:bodyPr>
          <a:lstStyle/>
          <a:p>
            <a:r>
              <a:rPr lang="en-US" sz="4800" u="sng" dirty="0">
                <a:latin typeface="Copperplate Gothic Bold" panose="020E0705020206020404" pitchFamily="34" charset="0"/>
              </a:rPr>
              <a:t>WORKFLOW</a:t>
            </a:r>
            <a:endParaRPr lang="en-IN" sz="4800" u="sng" dirty="0">
              <a:latin typeface="Copperplate Gothic Bold" panose="020E0705020206020404" pitchFamily="34" charset="0"/>
            </a:endParaRPr>
          </a:p>
        </p:txBody>
      </p:sp>
      <p:sp>
        <p:nvSpPr>
          <p:cNvPr id="9" name="TextBox 8">
            <a:extLst>
              <a:ext uri="{FF2B5EF4-FFF2-40B4-BE49-F238E27FC236}">
                <a16:creationId xmlns:a16="http://schemas.microsoft.com/office/drawing/2014/main" id="{8543E0D6-C51C-CCDB-E2EF-C8E7193D6B16}"/>
              </a:ext>
            </a:extLst>
          </p:cNvPr>
          <p:cNvSpPr txBox="1"/>
          <p:nvPr/>
        </p:nvSpPr>
        <p:spPr>
          <a:xfrm>
            <a:off x="391882" y="1277478"/>
            <a:ext cx="1348959" cy="646331"/>
          </a:xfrm>
          <a:prstGeom prst="rect">
            <a:avLst/>
          </a:prstGeom>
          <a:noFill/>
          <a:ln>
            <a:solidFill>
              <a:schemeClr val="tx1"/>
            </a:solidFill>
          </a:ln>
        </p:spPr>
        <p:txBody>
          <a:bodyPr wrap="none" rtlCol="0">
            <a:spAutoFit/>
          </a:bodyPr>
          <a:lstStyle/>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DATA </a:t>
            </a:r>
          </a:p>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LOADING</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0" name="TextBox 9">
            <a:extLst>
              <a:ext uri="{FF2B5EF4-FFF2-40B4-BE49-F238E27FC236}">
                <a16:creationId xmlns:a16="http://schemas.microsoft.com/office/drawing/2014/main" id="{3F476A25-E92D-781F-2054-FC9A78EEE74C}"/>
              </a:ext>
            </a:extLst>
          </p:cNvPr>
          <p:cNvSpPr txBox="1"/>
          <p:nvPr/>
        </p:nvSpPr>
        <p:spPr>
          <a:xfrm>
            <a:off x="8246018" y="1297240"/>
            <a:ext cx="2832378" cy="646331"/>
          </a:xfrm>
          <a:prstGeom prst="rect">
            <a:avLst/>
          </a:prstGeom>
          <a:noFill/>
          <a:ln>
            <a:solidFill>
              <a:schemeClr val="tx1"/>
            </a:solidFill>
          </a:ln>
        </p:spPr>
        <p:txBody>
          <a:bodyPr wrap="none" rtlCol="0">
            <a:spAutoFit/>
          </a:bodyPr>
          <a:lstStyle/>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DATA CLEANING AND</a:t>
            </a:r>
          </a:p>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 PREPROCESSING</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1" name="TextBox 10">
            <a:extLst>
              <a:ext uri="{FF2B5EF4-FFF2-40B4-BE49-F238E27FC236}">
                <a16:creationId xmlns:a16="http://schemas.microsoft.com/office/drawing/2014/main" id="{410267C6-1416-C085-B514-397342E9B97F}"/>
              </a:ext>
            </a:extLst>
          </p:cNvPr>
          <p:cNvSpPr txBox="1"/>
          <p:nvPr/>
        </p:nvSpPr>
        <p:spPr>
          <a:xfrm>
            <a:off x="6096000" y="3416120"/>
            <a:ext cx="1518204" cy="307777"/>
          </a:xfrm>
          <a:prstGeom prst="rect">
            <a:avLst/>
          </a:prstGeom>
          <a:noFill/>
          <a:ln>
            <a:solidFill>
              <a:schemeClr val="tx1"/>
            </a:solidFill>
          </a:ln>
        </p:spPr>
        <p:txBody>
          <a:bodyPr wrap="square" rtlCol="0">
            <a:spAutoFit/>
          </a:bodyPr>
          <a:lstStyle/>
          <a:p>
            <a:pPr algn="ctr"/>
            <a:r>
              <a:rPr lang="en-US"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Dropping</a:t>
            </a:r>
            <a:endPar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2" name="TextBox 11">
            <a:extLst>
              <a:ext uri="{FF2B5EF4-FFF2-40B4-BE49-F238E27FC236}">
                <a16:creationId xmlns:a16="http://schemas.microsoft.com/office/drawing/2014/main" id="{7E5078D8-1352-6669-7CBF-72CB75D5A202}"/>
              </a:ext>
            </a:extLst>
          </p:cNvPr>
          <p:cNvSpPr txBox="1"/>
          <p:nvPr/>
        </p:nvSpPr>
        <p:spPr>
          <a:xfrm>
            <a:off x="4015012" y="3378591"/>
            <a:ext cx="1390124" cy="369332"/>
          </a:xfrm>
          <a:prstGeom prst="rect">
            <a:avLst/>
          </a:prstGeom>
          <a:noFill/>
          <a:ln>
            <a:solidFill>
              <a:schemeClr val="tx1"/>
            </a:solidFill>
          </a:ln>
        </p:spPr>
        <p:txBody>
          <a:bodyPr wrap="none" rtlCol="0">
            <a:spAutoFit/>
          </a:bodyPr>
          <a:lstStyle/>
          <a:p>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Encoding</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3" name="TextBox 12">
            <a:extLst>
              <a:ext uri="{FF2B5EF4-FFF2-40B4-BE49-F238E27FC236}">
                <a16:creationId xmlns:a16="http://schemas.microsoft.com/office/drawing/2014/main" id="{9D1C54D7-C62D-CD80-C8B6-7EC0B352D610}"/>
              </a:ext>
            </a:extLst>
          </p:cNvPr>
          <p:cNvSpPr txBox="1"/>
          <p:nvPr/>
        </p:nvSpPr>
        <p:spPr>
          <a:xfrm>
            <a:off x="5585208" y="1372119"/>
            <a:ext cx="1278284" cy="457048"/>
          </a:xfrm>
          <a:prstGeom prst="rect">
            <a:avLst/>
          </a:prstGeom>
          <a:noFill/>
          <a:ln>
            <a:solidFill>
              <a:schemeClr val="tx1"/>
            </a:solidFill>
          </a:ln>
        </p:spPr>
        <p:txBody>
          <a:bodyPr wrap="square" rtlCol="0">
            <a:spAutoFit/>
          </a:bodyPr>
          <a:lstStyle/>
          <a:p>
            <a:pPr algn="ctr">
              <a:lnSpc>
                <a:spcPct val="150000"/>
              </a:lnSpc>
            </a:pP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EDA</a:t>
            </a:r>
          </a:p>
        </p:txBody>
      </p:sp>
      <p:sp>
        <p:nvSpPr>
          <p:cNvPr id="14" name="TextBox 13">
            <a:extLst>
              <a:ext uri="{FF2B5EF4-FFF2-40B4-BE49-F238E27FC236}">
                <a16:creationId xmlns:a16="http://schemas.microsoft.com/office/drawing/2014/main" id="{2A2D360E-ED31-76DF-1470-D1E323A89D34}"/>
              </a:ext>
            </a:extLst>
          </p:cNvPr>
          <p:cNvSpPr txBox="1"/>
          <p:nvPr/>
        </p:nvSpPr>
        <p:spPr>
          <a:xfrm>
            <a:off x="9001609" y="3105834"/>
            <a:ext cx="1321196" cy="872547"/>
          </a:xfrm>
          <a:prstGeom prst="rect">
            <a:avLst/>
          </a:prstGeom>
          <a:noFill/>
          <a:ln>
            <a:solidFill>
              <a:schemeClr val="tx1"/>
            </a:solidFill>
          </a:ln>
        </p:spPr>
        <p:txBody>
          <a:bodyPr wrap="none" rtlCol="0">
            <a:spAutoFit/>
          </a:bodyPr>
          <a:lstStyle/>
          <a:p>
            <a:pPr algn="ctr">
              <a:lnSpc>
                <a:spcPct val="150000"/>
              </a:lnSpc>
            </a:pP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Splitting</a:t>
            </a:r>
          </a:p>
          <a:p>
            <a:pPr algn="ctr">
              <a:lnSpc>
                <a:spcPct val="150000"/>
              </a:lnSpc>
            </a:pP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 Data</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5" name="TextBox 14">
            <a:extLst>
              <a:ext uri="{FF2B5EF4-FFF2-40B4-BE49-F238E27FC236}">
                <a16:creationId xmlns:a16="http://schemas.microsoft.com/office/drawing/2014/main" id="{1123F316-7AAF-151B-E816-4B2DD192B018}"/>
              </a:ext>
            </a:extLst>
          </p:cNvPr>
          <p:cNvSpPr txBox="1"/>
          <p:nvPr/>
        </p:nvSpPr>
        <p:spPr>
          <a:xfrm>
            <a:off x="8346270" y="4832268"/>
            <a:ext cx="2631874" cy="646331"/>
          </a:xfrm>
          <a:prstGeom prst="rect">
            <a:avLst/>
          </a:prstGeom>
          <a:noFill/>
          <a:ln>
            <a:solidFill>
              <a:schemeClr val="tx1"/>
            </a:solidFill>
          </a:ln>
        </p:spPr>
        <p:txBody>
          <a:bodyPr wrap="none" rtlCol="0">
            <a:spAutoFit/>
          </a:bodyPr>
          <a:lstStyle/>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Model Training And</a:t>
            </a:r>
          </a:p>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 Comparison</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6" name="TextBox 15">
            <a:extLst>
              <a:ext uri="{FF2B5EF4-FFF2-40B4-BE49-F238E27FC236}">
                <a16:creationId xmlns:a16="http://schemas.microsoft.com/office/drawing/2014/main" id="{D421D46E-D27A-F471-2949-7C25B47AD306}"/>
              </a:ext>
            </a:extLst>
          </p:cNvPr>
          <p:cNvSpPr txBox="1"/>
          <p:nvPr/>
        </p:nvSpPr>
        <p:spPr>
          <a:xfrm>
            <a:off x="2840351" y="5883200"/>
            <a:ext cx="1564274" cy="646331"/>
          </a:xfrm>
          <a:prstGeom prst="rect">
            <a:avLst/>
          </a:prstGeom>
          <a:noFill/>
          <a:ln>
            <a:solidFill>
              <a:schemeClr val="tx1"/>
            </a:solidFill>
          </a:ln>
        </p:spPr>
        <p:txBody>
          <a:bodyPr wrap="none" rtlCol="0">
            <a:spAutoFit/>
          </a:bodyPr>
          <a:lstStyle/>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Final </a:t>
            </a:r>
          </a:p>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Evaluation</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7" name="TextBox 16">
            <a:extLst>
              <a:ext uri="{FF2B5EF4-FFF2-40B4-BE49-F238E27FC236}">
                <a16:creationId xmlns:a16="http://schemas.microsoft.com/office/drawing/2014/main" id="{46FACB4D-C0E9-8588-44CF-D5C89B3CF0C7}"/>
              </a:ext>
            </a:extLst>
          </p:cNvPr>
          <p:cNvSpPr txBox="1"/>
          <p:nvPr/>
        </p:nvSpPr>
        <p:spPr>
          <a:xfrm>
            <a:off x="2641781" y="1269674"/>
            <a:ext cx="1304203" cy="646331"/>
          </a:xfrm>
          <a:prstGeom prst="rect">
            <a:avLst/>
          </a:prstGeom>
          <a:noFill/>
          <a:ln>
            <a:solidFill>
              <a:schemeClr val="tx1"/>
            </a:solidFill>
          </a:ln>
        </p:spPr>
        <p:txBody>
          <a:bodyPr wrap="none" rtlCol="0">
            <a:spAutoFit/>
          </a:bodyPr>
          <a:lstStyle/>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Import </a:t>
            </a:r>
          </a:p>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libraries</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8" name="TextBox 17">
            <a:extLst>
              <a:ext uri="{FF2B5EF4-FFF2-40B4-BE49-F238E27FC236}">
                <a16:creationId xmlns:a16="http://schemas.microsoft.com/office/drawing/2014/main" id="{B075188B-2A19-BDBD-5A4E-5572793B63FD}"/>
              </a:ext>
            </a:extLst>
          </p:cNvPr>
          <p:cNvSpPr txBox="1"/>
          <p:nvPr/>
        </p:nvSpPr>
        <p:spPr>
          <a:xfrm>
            <a:off x="7143949" y="2123256"/>
            <a:ext cx="1384482" cy="646331"/>
          </a:xfrm>
          <a:prstGeom prst="rect">
            <a:avLst/>
          </a:prstGeom>
          <a:noFill/>
          <a:ln>
            <a:solidFill>
              <a:schemeClr val="tx1"/>
            </a:solidFill>
          </a:ln>
        </p:spPr>
        <p:txBody>
          <a:bodyPr wrap="none" rtlCol="0">
            <a:spAutoFit/>
          </a:bodyPr>
          <a:lstStyle/>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Standard</a:t>
            </a:r>
          </a:p>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Scalar</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19" name="TextBox 18">
            <a:extLst>
              <a:ext uri="{FF2B5EF4-FFF2-40B4-BE49-F238E27FC236}">
                <a16:creationId xmlns:a16="http://schemas.microsoft.com/office/drawing/2014/main" id="{517B6F5E-D742-A42E-5866-0F2D34B86BD6}"/>
              </a:ext>
            </a:extLst>
          </p:cNvPr>
          <p:cNvSpPr txBox="1"/>
          <p:nvPr/>
        </p:nvSpPr>
        <p:spPr>
          <a:xfrm>
            <a:off x="4792304" y="2077681"/>
            <a:ext cx="1491114" cy="646331"/>
          </a:xfrm>
          <a:prstGeom prst="rect">
            <a:avLst/>
          </a:prstGeom>
          <a:noFill/>
          <a:ln>
            <a:solidFill>
              <a:schemeClr val="tx1"/>
            </a:solidFill>
          </a:ln>
        </p:spPr>
        <p:txBody>
          <a:bodyPr wrap="none" rtlCol="0">
            <a:spAutoFit/>
          </a:bodyPr>
          <a:lstStyle/>
          <a:p>
            <a:pPr algn="ct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Null </a:t>
            </a:r>
          </a:p>
          <a:p>
            <a:pPr algn="ctr"/>
            <a:r>
              <a:rPr lang="en-US" b="1"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Hanadling</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cxnSp>
        <p:nvCxnSpPr>
          <p:cNvPr id="21" name="Straight Arrow Connector 20">
            <a:extLst>
              <a:ext uri="{FF2B5EF4-FFF2-40B4-BE49-F238E27FC236}">
                <a16:creationId xmlns:a16="http://schemas.microsoft.com/office/drawing/2014/main" id="{50DD4ADD-B720-A947-B913-061AB41C1D86}"/>
              </a:ext>
            </a:extLst>
          </p:cNvPr>
          <p:cNvCxnSpPr>
            <a:stCxn id="9" idx="3"/>
            <a:endCxn id="17" idx="1"/>
          </p:cNvCxnSpPr>
          <p:nvPr/>
        </p:nvCxnSpPr>
        <p:spPr>
          <a:xfrm flipV="1">
            <a:off x="1740841" y="1592840"/>
            <a:ext cx="900940" cy="7804"/>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11509287-36F9-3B62-BF68-3A6344AF80CC}"/>
              </a:ext>
            </a:extLst>
          </p:cNvPr>
          <p:cNvCxnSpPr>
            <a:stCxn id="17" idx="3"/>
            <a:endCxn id="13" idx="1"/>
          </p:cNvCxnSpPr>
          <p:nvPr/>
        </p:nvCxnSpPr>
        <p:spPr>
          <a:xfrm>
            <a:off x="3945984" y="1592840"/>
            <a:ext cx="1639224" cy="780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4BE66C3-5B61-1849-1F42-30CAA5AAE9CE}"/>
              </a:ext>
            </a:extLst>
          </p:cNvPr>
          <p:cNvCxnSpPr>
            <a:stCxn id="13" idx="3"/>
            <a:endCxn id="10" idx="1"/>
          </p:cNvCxnSpPr>
          <p:nvPr/>
        </p:nvCxnSpPr>
        <p:spPr>
          <a:xfrm>
            <a:off x="6863492" y="1600643"/>
            <a:ext cx="1382526" cy="1976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EC5C67C1-1398-8559-2DD9-7A14EBD53559}"/>
              </a:ext>
            </a:extLst>
          </p:cNvPr>
          <p:cNvCxnSpPr>
            <a:stCxn id="10" idx="2"/>
            <a:endCxn id="14" idx="0"/>
          </p:cNvCxnSpPr>
          <p:nvPr/>
        </p:nvCxnSpPr>
        <p:spPr>
          <a:xfrm>
            <a:off x="9662207" y="1943571"/>
            <a:ext cx="0" cy="116226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A82BC3B5-3BB8-BE7F-FF57-294AAAE2E6AB}"/>
              </a:ext>
            </a:extLst>
          </p:cNvPr>
          <p:cNvCxnSpPr>
            <a:stCxn id="14" idx="2"/>
            <a:endCxn id="15" idx="0"/>
          </p:cNvCxnSpPr>
          <p:nvPr/>
        </p:nvCxnSpPr>
        <p:spPr>
          <a:xfrm>
            <a:off x="9662207" y="3978381"/>
            <a:ext cx="0" cy="85388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1" name="Connector: Elbow 30">
            <a:extLst>
              <a:ext uri="{FF2B5EF4-FFF2-40B4-BE49-F238E27FC236}">
                <a16:creationId xmlns:a16="http://schemas.microsoft.com/office/drawing/2014/main" id="{46977BD7-2490-01F3-9A80-56287684686E}"/>
              </a:ext>
            </a:extLst>
          </p:cNvPr>
          <p:cNvCxnSpPr>
            <a:cxnSpLocks/>
            <a:stCxn id="15" idx="2"/>
          </p:cNvCxnSpPr>
          <p:nvPr/>
        </p:nvCxnSpPr>
        <p:spPr>
          <a:xfrm rot="5400000">
            <a:off x="6669533" y="3213691"/>
            <a:ext cx="727766" cy="5257582"/>
          </a:xfrm>
          <a:prstGeom prst="bentConnector2">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4" name="Connector: Elbow 33">
            <a:extLst>
              <a:ext uri="{FF2B5EF4-FFF2-40B4-BE49-F238E27FC236}">
                <a16:creationId xmlns:a16="http://schemas.microsoft.com/office/drawing/2014/main" id="{85758F43-ACD8-301F-B41A-1DA539399DE5}"/>
              </a:ext>
            </a:extLst>
          </p:cNvPr>
          <p:cNvCxnSpPr>
            <a:cxnSpLocks/>
            <a:stCxn id="17" idx="2"/>
          </p:cNvCxnSpPr>
          <p:nvPr/>
        </p:nvCxnSpPr>
        <p:spPr>
          <a:xfrm>
            <a:off x="3293883" y="1916005"/>
            <a:ext cx="7574" cy="1838668"/>
          </a:xfrm>
          <a:prstGeom prst="straightConnector1">
            <a:avLst/>
          </a:prstGeom>
          <a:ln/>
        </p:spPr>
        <p:style>
          <a:lnRef idx="2">
            <a:schemeClr val="accent2"/>
          </a:lnRef>
          <a:fillRef idx="0">
            <a:schemeClr val="accent2"/>
          </a:fillRef>
          <a:effectRef idx="1">
            <a:schemeClr val="accent2"/>
          </a:effectRef>
          <a:fontRef idx="minor">
            <a:schemeClr val="tx1"/>
          </a:fontRef>
        </p:style>
      </p:cxnSp>
      <p:cxnSp>
        <p:nvCxnSpPr>
          <p:cNvPr id="36" name="Connector: Elbow 35">
            <a:extLst>
              <a:ext uri="{FF2B5EF4-FFF2-40B4-BE49-F238E27FC236}">
                <a16:creationId xmlns:a16="http://schemas.microsoft.com/office/drawing/2014/main" id="{4DC89D4D-5624-88CE-E313-3F7517FC0CE4}"/>
              </a:ext>
            </a:extLst>
          </p:cNvPr>
          <p:cNvCxnSpPr>
            <a:cxnSpLocks/>
          </p:cNvCxnSpPr>
          <p:nvPr/>
        </p:nvCxnSpPr>
        <p:spPr>
          <a:xfrm rot="10800000" flipV="1">
            <a:off x="4710074" y="1943566"/>
            <a:ext cx="4168753" cy="1121273"/>
          </a:xfrm>
          <a:prstGeom prst="bentConnector3">
            <a:avLst>
              <a:gd name="adj1" fmla="val 427"/>
            </a:avLst>
          </a:prstGeom>
          <a:ln/>
        </p:spPr>
        <p:style>
          <a:lnRef idx="2">
            <a:schemeClr val="accent2"/>
          </a:lnRef>
          <a:fillRef idx="0">
            <a:schemeClr val="accent2"/>
          </a:fillRef>
          <a:effectRef idx="1">
            <a:schemeClr val="accent2"/>
          </a:effectRef>
          <a:fontRef idx="minor">
            <a:schemeClr val="tx1"/>
          </a:fontRef>
        </p:style>
      </p:cxnSp>
      <p:cxnSp>
        <p:nvCxnSpPr>
          <p:cNvPr id="38" name="Connector: Elbow 37">
            <a:extLst>
              <a:ext uri="{FF2B5EF4-FFF2-40B4-BE49-F238E27FC236}">
                <a16:creationId xmlns:a16="http://schemas.microsoft.com/office/drawing/2014/main" id="{532A79D3-6690-7B71-95A7-3846029EAAF9}"/>
              </a:ext>
            </a:extLst>
          </p:cNvPr>
          <p:cNvCxnSpPr>
            <a:cxnSpLocks/>
            <a:stCxn id="15" idx="1"/>
          </p:cNvCxnSpPr>
          <p:nvPr/>
        </p:nvCxnSpPr>
        <p:spPr>
          <a:xfrm flipH="1" flipV="1">
            <a:off x="3898275" y="5146020"/>
            <a:ext cx="4447995" cy="9414"/>
          </a:xfrm>
          <a:prstGeom prst="straightConnector1">
            <a:avLst/>
          </a:prstGeom>
          <a:ln/>
        </p:spPr>
        <p:style>
          <a:lnRef idx="2">
            <a:schemeClr val="accent2"/>
          </a:lnRef>
          <a:fillRef idx="0">
            <a:schemeClr val="accent2"/>
          </a:fillRef>
          <a:effectRef idx="1">
            <a:schemeClr val="accent2"/>
          </a:effectRef>
          <a:fontRef idx="minor">
            <a:schemeClr val="tx1"/>
          </a:fontRef>
        </p:style>
      </p:cxnSp>
      <p:cxnSp>
        <p:nvCxnSpPr>
          <p:cNvPr id="51" name="Straight Arrow Connector 50">
            <a:extLst>
              <a:ext uri="{FF2B5EF4-FFF2-40B4-BE49-F238E27FC236}">
                <a16:creationId xmlns:a16="http://schemas.microsoft.com/office/drawing/2014/main" id="{FACB37D0-346F-DA72-C7E8-051B0ED259B3}"/>
              </a:ext>
            </a:extLst>
          </p:cNvPr>
          <p:cNvCxnSpPr>
            <a:cxnSpLocks/>
            <a:endCxn id="18" idx="2"/>
          </p:cNvCxnSpPr>
          <p:nvPr/>
        </p:nvCxnSpPr>
        <p:spPr>
          <a:xfrm flipV="1">
            <a:off x="7836190" y="2769587"/>
            <a:ext cx="0" cy="30108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4" name="Straight Arrow Connector 53">
            <a:extLst>
              <a:ext uri="{FF2B5EF4-FFF2-40B4-BE49-F238E27FC236}">
                <a16:creationId xmlns:a16="http://schemas.microsoft.com/office/drawing/2014/main" id="{67C04030-0039-9F56-6E1A-1B20AD0B49A4}"/>
              </a:ext>
            </a:extLst>
          </p:cNvPr>
          <p:cNvCxnSpPr>
            <a:endCxn id="19" idx="2"/>
          </p:cNvCxnSpPr>
          <p:nvPr/>
        </p:nvCxnSpPr>
        <p:spPr>
          <a:xfrm flipV="1">
            <a:off x="5537861" y="2724012"/>
            <a:ext cx="0" cy="33889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6" name="Straight Arrow Connector 55">
            <a:extLst>
              <a:ext uri="{FF2B5EF4-FFF2-40B4-BE49-F238E27FC236}">
                <a16:creationId xmlns:a16="http://schemas.microsoft.com/office/drawing/2014/main" id="{63853FD5-8B7A-D938-A1D7-9CCCFEE659B5}"/>
              </a:ext>
            </a:extLst>
          </p:cNvPr>
          <p:cNvCxnSpPr>
            <a:cxnSpLocks/>
            <a:endCxn id="11" idx="0"/>
          </p:cNvCxnSpPr>
          <p:nvPr/>
        </p:nvCxnSpPr>
        <p:spPr>
          <a:xfrm>
            <a:off x="6855102" y="3077942"/>
            <a:ext cx="0" cy="33817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0" name="Straight Arrow Connector 59">
            <a:extLst>
              <a:ext uri="{FF2B5EF4-FFF2-40B4-BE49-F238E27FC236}">
                <a16:creationId xmlns:a16="http://schemas.microsoft.com/office/drawing/2014/main" id="{7F1D61B7-9E23-42F2-9F51-40EDE50705DC}"/>
              </a:ext>
            </a:extLst>
          </p:cNvPr>
          <p:cNvCxnSpPr>
            <a:cxnSpLocks/>
            <a:endCxn id="12" idx="0"/>
          </p:cNvCxnSpPr>
          <p:nvPr/>
        </p:nvCxnSpPr>
        <p:spPr>
          <a:xfrm flipH="1">
            <a:off x="4710074" y="3067210"/>
            <a:ext cx="4879" cy="31138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2" name="TextBox 61">
            <a:extLst>
              <a:ext uri="{FF2B5EF4-FFF2-40B4-BE49-F238E27FC236}">
                <a16:creationId xmlns:a16="http://schemas.microsoft.com/office/drawing/2014/main" id="{9717FF4A-5488-E551-499F-9C1464969722}"/>
              </a:ext>
            </a:extLst>
          </p:cNvPr>
          <p:cNvSpPr txBox="1"/>
          <p:nvPr/>
        </p:nvSpPr>
        <p:spPr>
          <a:xfrm>
            <a:off x="1665218" y="2101851"/>
            <a:ext cx="1027397" cy="369332"/>
          </a:xfrm>
          <a:prstGeom prst="rect">
            <a:avLst/>
          </a:prstGeom>
          <a:noFill/>
          <a:ln>
            <a:solidFill>
              <a:schemeClr val="tx1"/>
            </a:solidFill>
          </a:ln>
        </p:spPr>
        <p:txBody>
          <a:bodyPr wrap="none" rtlCol="0">
            <a:spAutoFit/>
          </a:bodyPr>
          <a:lstStyle/>
          <a:p>
            <a:r>
              <a:rPr lang="en-US" b="1"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Numpy</a:t>
            </a: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 </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64" name="TextBox 63">
            <a:extLst>
              <a:ext uri="{FF2B5EF4-FFF2-40B4-BE49-F238E27FC236}">
                <a16:creationId xmlns:a16="http://schemas.microsoft.com/office/drawing/2014/main" id="{6431BBBA-667E-C5CB-972A-52BE03A8AFC9}"/>
              </a:ext>
            </a:extLst>
          </p:cNvPr>
          <p:cNvSpPr txBox="1"/>
          <p:nvPr/>
        </p:nvSpPr>
        <p:spPr>
          <a:xfrm>
            <a:off x="1648918" y="2584506"/>
            <a:ext cx="1084784" cy="369332"/>
          </a:xfrm>
          <a:prstGeom prst="rect">
            <a:avLst/>
          </a:prstGeom>
          <a:noFill/>
          <a:ln>
            <a:solidFill>
              <a:schemeClr val="tx1"/>
            </a:solidFill>
          </a:ln>
        </p:spPr>
        <p:txBody>
          <a:bodyPr wrap="none" rtlCol="0">
            <a:spAutoFit/>
          </a:bodyPr>
          <a:lstStyle/>
          <a:p>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Pandas</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65" name="TextBox 64">
            <a:extLst>
              <a:ext uri="{FF2B5EF4-FFF2-40B4-BE49-F238E27FC236}">
                <a16:creationId xmlns:a16="http://schemas.microsoft.com/office/drawing/2014/main" id="{5D8B59E6-815B-4C13-4E05-30BF290329A7}"/>
              </a:ext>
            </a:extLst>
          </p:cNvPr>
          <p:cNvSpPr txBox="1"/>
          <p:nvPr/>
        </p:nvSpPr>
        <p:spPr>
          <a:xfrm>
            <a:off x="1412268" y="3087353"/>
            <a:ext cx="1570366" cy="369332"/>
          </a:xfrm>
          <a:prstGeom prst="rect">
            <a:avLst/>
          </a:prstGeom>
          <a:noFill/>
          <a:ln>
            <a:solidFill>
              <a:schemeClr val="tx1"/>
            </a:solidFill>
          </a:ln>
        </p:spPr>
        <p:txBody>
          <a:bodyPr wrap="none" rtlCol="0">
            <a:spAutoFit/>
          </a:bodyPr>
          <a:lstStyle/>
          <a:p>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Matplotlib</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sp>
        <p:nvSpPr>
          <p:cNvPr id="66" name="TextBox 65">
            <a:extLst>
              <a:ext uri="{FF2B5EF4-FFF2-40B4-BE49-F238E27FC236}">
                <a16:creationId xmlns:a16="http://schemas.microsoft.com/office/drawing/2014/main" id="{4C281F35-D934-9233-A139-C0AB00BBDA3F}"/>
              </a:ext>
            </a:extLst>
          </p:cNvPr>
          <p:cNvSpPr txBox="1"/>
          <p:nvPr/>
        </p:nvSpPr>
        <p:spPr>
          <a:xfrm>
            <a:off x="1606512" y="3589890"/>
            <a:ext cx="1220527" cy="369332"/>
          </a:xfrm>
          <a:prstGeom prst="rect">
            <a:avLst/>
          </a:prstGeom>
          <a:noFill/>
          <a:ln>
            <a:solidFill>
              <a:schemeClr val="tx1"/>
            </a:solidFill>
          </a:ln>
        </p:spPr>
        <p:txBody>
          <a:bodyPr wrap="none" rtlCol="0">
            <a:spAutoFit/>
          </a:bodyPr>
          <a:lstStyle/>
          <a:p>
            <a:r>
              <a:rPr lang="en-US" b="1"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rPr>
              <a:t>Sklearn</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Light" panose="020E0507020206020404" pitchFamily="34" charset="0"/>
            </a:endParaRPr>
          </a:p>
        </p:txBody>
      </p:sp>
      <p:cxnSp>
        <p:nvCxnSpPr>
          <p:cNvPr id="69" name="Straight Arrow Connector 68">
            <a:extLst>
              <a:ext uri="{FF2B5EF4-FFF2-40B4-BE49-F238E27FC236}">
                <a16:creationId xmlns:a16="http://schemas.microsoft.com/office/drawing/2014/main" id="{134AB8D5-6A67-F0B9-B75C-7F3C83E04725}"/>
              </a:ext>
            </a:extLst>
          </p:cNvPr>
          <p:cNvCxnSpPr>
            <a:endCxn id="62" idx="3"/>
          </p:cNvCxnSpPr>
          <p:nvPr/>
        </p:nvCxnSpPr>
        <p:spPr>
          <a:xfrm flipH="1">
            <a:off x="2692615" y="2286517"/>
            <a:ext cx="59644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1" name="Straight Arrow Connector 70">
            <a:extLst>
              <a:ext uri="{FF2B5EF4-FFF2-40B4-BE49-F238E27FC236}">
                <a16:creationId xmlns:a16="http://schemas.microsoft.com/office/drawing/2014/main" id="{6D869F64-4488-9F0E-6765-7E251BC8917E}"/>
              </a:ext>
            </a:extLst>
          </p:cNvPr>
          <p:cNvCxnSpPr>
            <a:endCxn id="64" idx="3"/>
          </p:cNvCxnSpPr>
          <p:nvPr/>
        </p:nvCxnSpPr>
        <p:spPr>
          <a:xfrm flipH="1">
            <a:off x="2733702" y="2769172"/>
            <a:ext cx="56018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3" name="Straight Arrow Connector 72">
            <a:extLst>
              <a:ext uri="{FF2B5EF4-FFF2-40B4-BE49-F238E27FC236}">
                <a16:creationId xmlns:a16="http://schemas.microsoft.com/office/drawing/2014/main" id="{6BCEAFDC-04C3-C469-25D3-07A94B341CAC}"/>
              </a:ext>
            </a:extLst>
          </p:cNvPr>
          <p:cNvCxnSpPr>
            <a:endCxn id="65" idx="3"/>
          </p:cNvCxnSpPr>
          <p:nvPr/>
        </p:nvCxnSpPr>
        <p:spPr>
          <a:xfrm flipH="1">
            <a:off x="2982634" y="3272019"/>
            <a:ext cx="318823"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5" name="Straight Arrow Connector 74">
            <a:extLst>
              <a:ext uri="{FF2B5EF4-FFF2-40B4-BE49-F238E27FC236}">
                <a16:creationId xmlns:a16="http://schemas.microsoft.com/office/drawing/2014/main" id="{B3F4EF59-A3C2-2C19-DC72-A1353E88813E}"/>
              </a:ext>
            </a:extLst>
          </p:cNvPr>
          <p:cNvCxnSpPr>
            <a:endCxn id="66" idx="3"/>
          </p:cNvCxnSpPr>
          <p:nvPr/>
        </p:nvCxnSpPr>
        <p:spPr>
          <a:xfrm flipH="1">
            <a:off x="2827039" y="3767805"/>
            <a:ext cx="474418" cy="675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78" name="TextBox 77">
            <a:extLst>
              <a:ext uri="{FF2B5EF4-FFF2-40B4-BE49-F238E27FC236}">
                <a16:creationId xmlns:a16="http://schemas.microsoft.com/office/drawing/2014/main" id="{F2E7D1CC-1780-3332-1543-23532BFD205A}"/>
              </a:ext>
            </a:extLst>
          </p:cNvPr>
          <p:cNvSpPr txBox="1"/>
          <p:nvPr/>
        </p:nvSpPr>
        <p:spPr>
          <a:xfrm>
            <a:off x="6855102" y="4266797"/>
            <a:ext cx="1347613" cy="523220"/>
          </a:xfrm>
          <a:prstGeom prst="rect">
            <a:avLst/>
          </a:prstGeom>
          <a:noFill/>
          <a:ln>
            <a:solidFill>
              <a:schemeClr val="tx1"/>
            </a:solidFill>
          </a:ln>
        </p:spPr>
        <p:txBody>
          <a:bodyPr wrap="none" rtlCol="0">
            <a:spAutoFit/>
          </a:bodyPr>
          <a:lstStyle/>
          <a:p>
            <a:pPr algn="ctr"/>
            <a:r>
              <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Logistic </a:t>
            </a:r>
          </a:p>
          <a:p>
            <a:pPr algn="ctr"/>
            <a:r>
              <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Regression</a:t>
            </a:r>
          </a:p>
        </p:txBody>
      </p:sp>
      <p:sp>
        <p:nvSpPr>
          <p:cNvPr id="82" name="TextBox 81">
            <a:extLst>
              <a:ext uri="{FF2B5EF4-FFF2-40B4-BE49-F238E27FC236}">
                <a16:creationId xmlns:a16="http://schemas.microsoft.com/office/drawing/2014/main" id="{38233C66-48BC-34DE-A3EC-42252320B9F6}"/>
              </a:ext>
            </a:extLst>
          </p:cNvPr>
          <p:cNvSpPr txBox="1"/>
          <p:nvPr/>
        </p:nvSpPr>
        <p:spPr>
          <a:xfrm>
            <a:off x="6518237" y="5454572"/>
            <a:ext cx="655629" cy="307777"/>
          </a:xfrm>
          <a:prstGeom prst="rect">
            <a:avLst/>
          </a:prstGeom>
          <a:noFill/>
          <a:ln>
            <a:solidFill>
              <a:schemeClr val="tx1"/>
            </a:solidFill>
          </a:ln>
        </p:spPr>
        <p:txBody>
          <a:bodyPr wrap="none" rtlCol="0">
            <a:spAutoFit/>
          </a:bodyPr>
          <a:lstStyle/>
          <a:p>
            <a:pPr algn="ctr"/>
            <a:r>
              <a:rPr lang="en-IN" sz="1400"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k-NN</a:t>
            </a:r>
            <a:endPar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endParaRPr>
          </a:p>
        </p:txBody>
      </p:sp>
      <p:sp>
        <p:nvSpPr>
          <p:cNvPr id="85" name="TextBox 84">
            <a:extLst>
              <a:ext uri="{FF2B5EF4-FFF2-40B4-BE49-F238E27FC236}">
                <a16:creationId xmlns:a16="http://schemas.microsoft.com/office/drawing/2014/main" id="{485F197B-8967-E6E9-8E54-4FD33A40CB63}"/>
              </a:ext>
            </a:extLst>
          </p:cNvPr>
          <p:cNvSpPr txBox="1"/>
          <p:nvPr/>
        </p:nvSpPr>
        <p:spPr>
          <a:xfrm>
            <a:off x="5012312" y="4266797"/>
            <a:ext cx="1505925" cy="523220"/>
          </a:xfrm>
          <a:prstGeom prst="rect">
            <a:avLst/>
          </a:prstGeom>
          <a:noFill/>
          <a:ln>
            <a:solidFill>
              <a:schemeClr val="tx1"/>
            </a:solidFill>
          </a:ln>
        </p:spPr>
        <p:txBody>
          <a:bodyPr wrap="none" rtlCol="0">
            <a:spAutoFit/>
          </a:bodyPr>
          <a:lstStyle/>
          <a:p>
            <a:pPr algn="ctr"/>
            <a:r>
              <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SVM </a:t>
            </a:r>
          </a:p>
          <a:p>
            <a:pPr algn="ctr"/>
            <a:r>
              <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(RBF Kernel)</a:t>
            </a:r>
          </a:p>
        </p:txBody>
      </p:sp>
      <p:sp>
        <p:nvSpPr>
          <p:cNvPr id="88" name="TextBox 87">
            <a:extLst>
              <a:ext uri="{FF2B5EF4-FFF2-40B4-BE49-F238E27FC236}">
                <a16:creationId xmlns:a16="http://schemas.microsoft.com/office/drawing/2014/main" id="{52462F20-A67D-5EEF-3E4F-E584FF494F31}"/>
              </a:ext>
            </a:extLst>
          </p:cNvPr>
          <p:cNvSpPr txBox="1"/>
          <p:nvPr/>
        </p:nvSpPr>
        <p:spPr>
          <a:xfrm>
            <a:off x="3389587" y="4266797"/>
            <a:ext cx="995914" cy="523220"/>
          </a:xfrm>
          <a:prstGeom prst="rect">
            <a:avLst/>
          </a:prstGeom>
          <a:noFill/>
          <a:ln>
            <a:solidFill>
              <a:schemeClr val="tx1"/>
            </a:solidFill>
          </a:ln>
        </p:spPr>
        <p:txBody>
          <a:bodyPr wrap="none" rtlCol="0">
            <a:spAutoFit/>
          </a:bodyPr>
          <a:lstStyle/>
          <a:p>
            <a:pPr algn="ctr"/>
            <a:r>
              <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Random</a:t>
            </a:r>
          </a:p>
          <a:p>
            <a:pPr algn="ctr"/>
            <a:r>
              <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Forest</a:t>
            </a:r>
          </a:p>
        </p:txBody>
      </p:sp>
      <p:sp>
        <p:nvSpPr>
          <p:cNvPr id="89" name="TextBox 88">
            <a:extLst>
              <a:ext uri="{FF2B5EF4-FFF2-40B4-BE49-F238E27FC236}">
                <a16:creationId xmlns:a16="http://schemas.microsoft.com/office/drawing/2014/main" id="{312287B2-DAE5-DA95-488D-B05BB733AC85}"/>
              </a:ext>
            </a:extLst>
          </p:cNvPr>
          <p:cNvSpPr txBox="1"/>
          <p:nvPr/>
        </p:nvSpPr>
        <p:spPr>
          <a:xfrm>
            <a:off x="4469680" y="5454572"/>
            <a:ext cx="1088761" cy="307777"/>
          </a:xfrm>
          <a:prstGeom prst="rect">
            <a:avLst/>
          </a:prstGeom>
          <a:noFill/>
          <a:ln>
            <a:solidFill>
              <a:schemeClr val="tx1"/>
            </a:solidFill>
          </a:ln>
        </p:spPr>
        <p:txBody>
          <a:bodyPr wrap="none" rtlCol="0">
            <a:spAutoFit/>
          </a:bodyPr>
          <a:lstStyle/>
          <a:p>
            <a:pPr algn="ctr"/>
            <a:r>
              <a:rPr lang="en-IN" sz="1400" b="1"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rPr>
              <a:t>XGBoost</a:t>
            </a:r>
            <a:endParaRPr lang="en-IN" sz="1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pperplate Gothic Bold" panose="020E0705020206020404" pitchFamily="34" charset="0"/>
            </a:endParaRPr>
          </a:p>
        </p:txBody>
      </p:sp>
      <p:cxnSp>
        <p:nvCxnSpPr>
          <p:cNvPr id="92" name="Straight Arrow Connector 91">
            <a:extLst>
              <a:ext uri="{FF2B5EF4-FFF2-40B4-BE49-F238E27FC236}">
                <a16:creationId xmlns:a16="http://schemas.microsoft.com/office/drawing/2014/main" id="{D44009BF-5B8A-6965-95BC-996513ACCF8A}"/>
              </a:ext>
            </a:extLst>
          </p:cNvPr>
          <p:cNvCxnSpPr>
            <a:endCxn id="78" idx="2"/>
          </p:cNvCxnSpPr>
          <p:nvPr/>
        </p:nvCxnSpPr>
        <p:spPr>
          <a:xfrm flipV="1">
            <a:off x="7528908" y="4790017"/>
            <a:ext cx="1" cy="36541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4" name="Straight Arrow Connector 93">
            <a:extLst>
              <a:ext uri="{FF2B5EF4-FFF2-40B4-BE49-F238E27FC236}">
                <a16:creationId xmlns:a16="http://schemas.microsoft.com/office/drawing/2014/main" id="{CF7308EE-0F64-68F7-5782-FA867F58EF0D}"/>
              </a:ext>
            </a:extLst>
          </p:cNvPr>
          <p:cNvCxnSpPr>
            <a:endCxn id="82" idx="0"/>
          </p:cNvCxnSpPr>
          <p:nvPr/>
        </p:nvCxnSpPr>
        <p:spPr>
          <a:xfrm>
            <a:off x="6846051" y="5146020"/>
            <a:ext cx="1" cy="30855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6" name="Straight Arrow Connector 95">
            <a:extLst>
              <a:ext uri="{FF2B5EF4-FFF2-40B4-BE49-F238E27FC236}">
                <a16:creationId xmlns:a16="http://schemas.microsoft.com/office/drawing/2014/main" id="{948A7ECE-7A2E-D590-3E98-576AAAA789DE}"/>
              </a:ext>
            </a:extLst>
          </p:cNvPr>
          <p:cNvCxnSpPr>
            <a:endCxn id="85" idx="2"/>
          </p:cNvCxnSpPr>
          <p:nvPr/>
        </p:nvCxnSpPr>
        <p:spPr>
          <a:xfrm flipV="1">
            <a:off x="5765274" y="4790017"/>
            <a:ext cx="1" cy="36541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8" name="Straight Arrow Connector 97">
            <a:extLst>
              <a:ext uri="{FF2B5EF4-FFF2-40B4-BE49-F238E27FC236}">
                <a16:creationId xmlns:a16="http://schemas.microsoft.com/office/drawing/2014/main" id="{4CC85DA5-7FF4-4197-3EFE-93F3E626D3D8}"/>
              </a:ext>
            </a:extLst>
          </p:cNvPr>
          <p:cNvCxnSpPr>
            <a:endCxn id="89" idx="0"/>
          </p:cNvCxnSpPr>
          <p:nvPr/>
        </p:nvCxnSpPr>
        <p:spPr>
          <a:xfrm>
            <a:off x="5012312" y="5155434"/>
            <a:ext cx="1749" cy="29913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0" name="Straight Arrow Connector 99">
            <a:extLst>
              <a:ext uri="{FF2B5EF4-FFF2-40B4-BE49-F238E27FC236}">
                <a16:creationId xmlns:a16="http://schemas.microsoft.com/office/drawing/2014/main" id="{7DB0EF95-243C-CF6C-D47D-43264AC78BBC}"/>
              </a:ext>
            </a:extLst>
          </p:cNvPr>
          <p:cNvCxnSpPr>
            <a:cxnSpLocks/>
            <a:endCxn id="88" idx="2"/>
          </p:cNvCxnSpPr>
          <p:nvPr/>
        </p:nvCxnSpPr>
        <p:spPr>
          <a:xfrm flipV="1">
            <a:off x="3887544" y="4790017"/>
            <a:ext cx="0" cy="36388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29390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A4A4C-3C3A-6705-2DB2-BA8B41DACA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C32BC7-D7DF-AF98-0DAE-AD713ECBE7A9}"/>
              </a:ext>
            </a:extLst>
          </p:cNvPr>
          <p:cNvSpPr>
            <a:spLocks noGrp="1"/>
          </p:cNvSpPr>
          <p:nvPr>
            <p:ph type="title"/>
          </p:nvPr>
        </p:nvSpPr>
        <p:spPr>
          <a:xfrm>
            <a:off x="3364929" y="95504"/>
            <a:ext cx="5827481" cy="849715"/>
          </a:xfrm>
        </p:spPr>
        <p:txBody>
          <a:bodyPr>
            <a:normAutofit/>
          </a:bodyPr>
          <a:lstStyle/>
          <a:p>
            <a:pPr algn="ctr"/>
            <a:r>
              <a:rPr lang="en-US" sz="3200" u="sng" dirty="0">
                <a:latin typeface="Copperplate Gothic Bold" panose="020E0705020206020404" pitchFamily="34" charset="0"/>
              </a:rPr>
              <a:t>PREPROCESSING</a:t>
            </a:r>
            <a:endParaRPr lang="en-IN" sz="3200" u="sng" dirty="0">
              <a:latin typeface="Copperplate Gothic Bold" panose="020E0705020206020404" pitchFamily="34" charset="0"/>
            </a:endParaRPr>
          </a:p>
        </p:txBody>
      </p:sp>
      <p:sp>
        <p:nvSpPr>
          <p:cNvPr id="8" name="TextBox 7">
            <a:extLst>
              <a:ext uri="{FF2B5EF4-FFF2-40B4-BE49-F238E27FC236}">
                <a16:creationId xmlns:a16="http://schemas.microsoft.com/office/drawing/2014/main" id="{4C894F25-31CD-CA7E-AFA0-44A82CE70DDC}"/>
              </a:ext>
            </a:extLst>
          </p:cNvPr>
          <p:cNvSpPr txBox="1"/>
          <p:nvPr/>
        </p:nvSpPr>
        <p:spPr>
          <a:xfrm>
            <a:off x="521208" y="996388"/>
            <a:ext cx="7613684" cy="830997"/>
          </a:xfrm>
          <a:prstGeom prst="rect">
            <a:avLst/>
          </a:prstGeom>
          <a:noFill/>
        </p:spPr>
        <p:txBody>
          <a:bodyPr wrap="square" rtlCol="0">
            <a:spAutoFit/>
          </a:bodyPr>
          <a:lstStyle/>
          <a:p>
            <a:r>
              <a:rPr lang="en-US" sz="1600" dirty="0">
                <a:latin typeface="Copperplate Gothic Light" panose="020E0507020206020404" pitchFamily="34" charset="0"/>
              </a:rPr>
              <a:t>Data preprocessing is the process of cleaning, transforming, and organizing raw data into a structured and usable format so that machine learning models can understand it and learn effectively.</a:t>
            </a:r>
            <a:endParaRPr lang="en-IN" sz="1600" dirty="0">
              <a:latin typeface="Copperplate Gothic Light" panose="020E0507020206020404" pitchFamily="34" charset="0"/>
            </a:endParaRPr>
          </a:p>
        </p:txBody>
      </p:sp>
      <p:sp>
        <p:nvSpPr>
          <p:cNvPr id="9" name="TextBox 8">
            <a:extLst>
              <a:ext uri="{FF2B5EF4-FFF2-40B4-BE49-F238E27FC236}">
                <a16:creationId xmlns:a16="http://schemas.microsoft.com/office/drawing/2014/main" id="{DC503E82-22DE-7469-EFD4-D2A4EE991E13}"/>
              </a:ext>
            </a:extLst>
          </p:cNvPr>
          <p:cNvSpPr txBox="1"/>
          <p:nvPr/>
        </p:nvSpPr>
        <p:spPr>
          <a:xfrm>
            <a:off x="521208" y="1827385"/>
            <a:ext cx="6181344" cy="1323439"/>
          </a:xfrm>
          <a:prstGeom prst="rect">
            <a:avLst/>
          </a:prstGeom>
          <a:noFill/>
        </p:spPr>
        <p:txBody>
          <a:bodyPr wrap="square" rtlCol="0">
            <a:spAutoFit/>
          </a:bodyPr>
          <a:lstStyle/>
          <a:p>
            <a:pPr marL="285750" indent="-285750">
              <a:buFont typeface="Wingdings" panose="05000000000000000000" pitchFamily="2" charset="2"/>
              <a:buChar char="q"/>
            </a:pPr>
            <a:r>
              <a:rPr lang="en-US" sz="1600" b="1" dirty="0">
                <a:latin typeface="Copperplate Gothic Light" panose="020E0507020206020404" pitchFamily="34" charset="0"/>
              </a:rPr>
              <a:t>Removal of Irrelevant Columns</a:t>
            </a:r>
          </a:p>
          <a:p>
            <a:pPr lvl="1"/>
            <a:r>
              <a:rPr lang="en-US" sz="1600" dirty="0">
                <a:latin typeface="Copperplate Gothic Light" panose="020E0507020206020404" pitchFamily="34" charset="0"/>
              </a:rPr>
              <a:t>Certain columns do not contribute to prediction and only add noise.</a:t>
            </a:r>
            <a:br>
              <a:rPr lang="en-US" sz="1600" dirty="0">
                <a:latin typeface="Copperplate Gothic Light" panose="020E0507020206020404" pitchFamily="34" charset="0"/>
              </a:rPr>
            </a:br>
            <a:r>
              <a:rPr lang="en-US" sz="1600" dirty="0">
                <a:latin typeface="Copperplate Gothic Light" panose="020E0507020206020404" pitchFamily="34" charset="0"/>
              </a:rPr>
              <a:t>So we dropped </a:t>
            </a:r>
            <a:r>
              <a:rPr lang="en-US" sz="1600" dirty="0" err="1">
                <a:latin typeface="Copperplate Gothic Light" panose="020E0507020206020404" pitchFamily="34" charset="0"/>
              </a:rPr>
              <a:t>Student_ID</a:t>
            </a:r>
            <a:r>
              <a:rPr lang="en-US" sz="1600" dirty="0">
                <a:latin typeface="Copperplate Gothic Light" panose="020E0507020206020404" pitchFamily="34" charset="0"/>
              </a:rPr>
              <a:t>, </a:t>
            </a:r>
            <a:r>
              <a:rPr lang="en-US" sz="1600" dirty="0" err="1">
                <a:latin typeface="Copperplate Gothic Light" panose="020E0507020206020404" pitchFamily="34" charset="0"/>
              </a:rPr>
              <a:t>First_Name</a:t>
            </a:r>
            <a:r>
              <a:rPr lang="en-US" sz="1600" dirty="0">
                <a:latin typeface="Copperplate Gothic Light" panose="020E0507020206020404" pitchFamily="34" charset="0"/>
              </a:rPr>
              <a:t>, </a:t>
            </a:r>
            <a:r>
              <a:rPr lang="en-US" sz="1600" dirty="0" err="1">
                <a:latin typeface="Copperplate Gothic Light" panose="020E0507020206020404" pitchFamily="34" charset="0"/>
              </a:rPr>
              <a:t>Last_Name</a:t>
            </a:r>
            <a:r>
              <a:rPr lang="en-US" sz="1600" dirty="0">
                <a:latin typeface="Copperplate Gothic Light" panose="020E0507020206020404" pitchFamily="34" charset="0"/>
              </a:rPr>
              <a:t>, Email, </a:t>
            </a:r>
            <a:r>
              <a:rPr lang="en-US" sz="1600" dirty="0" err="1">
                <a:latin typeface="Copperplate Gothic Light" panose="020E0507020206020404" pitchFamily="34" charset="0"/>
              </a:rPr>
              <a:t>Total_Score</a:t>
            </a:r>
            <a:r>
              <a:rPr lang="en-US" sz="1600" dirty="0">
                <a:latin typeface="Copperplate Gothic Light" panose="020E0507020206020404" pitchFamily="34" charset="0"/>
              </a:rPr>
              <a:t>.</a:t>
            </a:r>
          </a:p>
        </p:txBody>
      </p:sp>
      <p:sp>
        <p:nvSpPr>
          <p:cNvPr id="11" name="TextBox 10">
            <a:extLst>
              <a:ext uri="{FF2B5EF4-FFF2-40B4-BE49-F238E27FC236}">
                <a16:creationId xmlns:a16="http://schemas.microsoft.com/office/drawing/2014/main" id="{C2D851C3-CD6A-0E43-AF01-74CBB5959707}"/>
              </a:ext>
            </a:extLst>
          </p:cNvPr>
          <p:cNvSpPr txBox="1"/>
          <p:nvPr/>
        </p:nvSpPr>
        <p:spPr>
          <a:xfrm>
            <a:off x="521208" y="3169112"/>
            <a:ext cx="6181344" cy="1077218"/>
          </a:xfrm>
          <a:prstGeom prst="rect">
            <a:avLst/>
          </a:prstGeom>
          <a:noFill/>
        </p:spPr>
        <p:txBody>
          <a:bodyPr wrap="square" rtlCol="0">
            <a:spAutoFit/>
          </a:bodyPr>
          <a:lstStyle/>
          <a:p>
            <a:pPr marL="285750" indent="-285750">
              <a:buFont typeface="Wingdings" panose="05000000000000000000" pitchFamily="2" charset="2"/>
              <a:buChar char="q"/>
            </a:pPr>
            <a:r>
              <a:rPr lang="en-US" sz="1600" b="1" dirty="0">
                <a:latin typeface="Copperplate Gothic Light" panose="020E0507020206020404" pitchFamily="34" charset="0"/>
              </a:rPr>
              <a:t>Handling Missing Values</a:t>
            </a:r>
          </a:p>
          <a:p>
            <a:pPr lvl="1"/>
            <a:r>
              <a:rPr lang="en-US" sz="1600" dirty="0">
                <a:latin typeface="Copperplate Gothic Light" panose="020E0507020206020404" pitchFamily="34" charset="0"/>
              </a:rPr>
              <a:t>After transformation:</a:t>
            </a:r>
          </a:p>
          <a:p>
            <a:pPr lvl="1"/>
            <a:r>
              <a:rPr lang="en-US" sz="1600" dirty="0">
                <a:latin typeface="Copperplate Gothic Light" panose="020E0507020206020404" pitchFamily="34" charset="0"/>
              </a:rPr>
              <a:t>Dataset was checked for </a:t>
            </a:r>
            <a:r>
              <a:rPr lang="en-US" sz="1600" dirty="0" err="1">
                <a:latin typeface="Copperplate Gothic Light" panose="020E0507020206020404" pitchFamily="34" charset="0"/>
              </a:rPr>
              <a:t>NaN</a:t>
            </a:r>
            <a:r>
              <a:rPr lang="en-US" sz="1600" dirty="0">
                <a:latin typeface="Copperplate Gothic Light" panose="020E0507020206020404" pitchFamily="34" charset="0"/>
              </a:rPr>
              <a:t> values</a:t>
            </a:r>
          </a:p>
          <a:p>
            <a:pPr lvl="1"/>
            <a:r>
              <a:rPr lang="en-US" sz="1600" dirty="0">
                <a:latin typeface="Copperplate Gothic Light" panose="020E0507020206020404" pitchFamily="34" charset="0"/>
              </a:rPr>
              <a:t>Any missing values were replaced with </a:t>
            </a:r>
            <a:r>
              <a:rPr lang="en-US" sz="1600" b="1" dirty="0">
                <a:latin typeface="Copperplate Gothic Light" panose="020E0507020206020404" pitchFamily="34" charset="0"/>
              </a:rPr>
              <a:t>0</a:t>
            </a:r>
            <a:endParaRPr lang="en-US" sz="1600" dirty="0">
              <a:latin typeface="Copperplate Gothic Light" panose="020E0507020206020404" pitchFamily="34" charset="0"/>
            </a:endParaRPr>
          </a:p>
        </p:txBody>
      </p:sp>
      <p:graphicFrame>
        <p:nvGraphicFramePr>
          <p:cNvPr id="12" name="Table 11">
            <a:extLst>
              <a:ext uri="{FF2B5EF4-FFF2-40B4-BE49-F238E27FC236}">
                <a16:creationId xmlns:a16="http://schemas.microsoft.com/office/drawing/2014/main" id="{36109F62-6189-D05A-9929-90FA2CE90969}"/>
              </a:ext>
            </a:extLst>
          </p:cNvPr>
          <p:cNvGraphicFramePr>
            <a:graphicFrameLocks noGrp="1"/>
          </p:cNvGraphicFramePr>
          <p:nvPr>
            <p:extLst>
              <p:ext uri="{D42A27DB-BD31-4B8C-83A1-F6EECF244321}">
                <p14:modId xmlns:p14="http://schemas.microsoft.com/office/powerpoint/2010/main" val="2235644586"/>
              </p:ext>
            </p:extLst>
          </p:nvPr>
        </p:nvGraphicFramePr>
        <p:xfrm>
          <a:off x="1163318" y="5192776"/>
          <a:ext cx="2393698" cy="1483360"/>
        </p:xfrm>
        <a:graphic>
          <a:graphicData uri="http://schemas.openxmlformats.org/drawingml/2006/table">
            <a:tbl>
              <a:tblPr firstRow="1" bandRow="1">
                <a:tableStyleId>{69CF1AB2-1976-4502-BF36-3FF5EA218861}</a:tableStyleId>
              </a:tblPr>
              <a:tblGrid>
                <a:gridCol w="1196849">
                  <a:extLst>
                    <a:ext uri="{9D8B030D-6E8A-4147-A177-3AD203B41FA5}">
                      <a16:colId xmlns:a16="http://schemas.microsoft.com/office/drawing/2014/main" val="3602635500"/>
                    </a:ext>
                  </a:extLst>
                </a:gridCol>
                <a:gridCol w="1196849">
                  <a:extLst>
                    <a:ext uri="{9D8B030D-6E8A-4147-A177-3AD203B41FA5}">
                      <a16:colId xmlns:a16="http://schemas.microsoft.com/office/drawing/2014/main" val="1059663254"/>
                    </a:ext>
                  </a:extLst>
                </a:gridCol>
              </a:tblGrid>
              <a:tr h="370840">
                <a:tc>
                  <a:txBody>
                    <a:bodyPr/>
                    <a:lstStyle/>
                    <a:p>
                      <a:r>
                        <a:rPr lang="en-US" sz="1200" b="0" dirty="0"/>
                        <a:t>High School</a:t>
                      </a:r>
                      <a:endParaRPr lang="en-IN" sz="1200" b="0" dirty="0">
                        <a:latin typeface="Copperplate Gothic Light" panose="020E0507020206020404" pitchFamily="34" charset="0"/>
                      </a:endParaRPr>
                    </a:p>
                  </a:txBody>
                  <a:tcPr/>
                </a:tc>
                <a:tc>
                  <a:txBody>
                    <a:bodyPr/>
                    <a:lstStyle/>
                    <a:p>
                      <a:r>
                        <a:rPr lang="en-US" sz="1200" b="0" dirty="0"/>
                        <a:t>0</a:t>
                      </a:r>
                      <a:endParaRPr lang="en-IN" sz="1200" b="0" dirty="0">
                        <a:latin typeface="Copperplate Gothic Light" panose="020E0507020206020404" pitchFamily="34" charset="0"/>
                      </a:endParaRPr>
                    </a:p>
                  </a:txBody>
                  <a:tcPr/>
                </a:tc>
                <a:extLst>
                  <a:ext uri="{0D108BD9-81ED-4DB2-BD59-A6C34878D82A}">
                    <a16:rowId xmlns:a16="http://schemas.microsoft.com/office/drawing/2014/main" val="2950256296"/>
                  </a:ext>
                </a:extLst>
              </a:tr>
              <a:tr h="370840">
                <a:tc>
                  <a:txBody>
                    <a:bodyPr/>
                    <a:lstStyle/>
                    <a:p>
                      <a:r>
                        <a:rPr lang="en-US" sz="1200" dirty="0"/>
                        <a:t>Bachelor’s</a:t>
                      </a:r>
                      <a:endParaRPr lang="en-IN" sz="1200" dirty="0">
                        <a:latin typeface="Copperplate Gothic Light" panose="020E0507020206020404" pitchFamily="34" charset="0"/>
                      </a:endParaRPr>
                    </a:p>
                  </a:txBody>
                  <a:tcPr/>
                </a:tc>
                <a:tc>
                  <a:txBody>
                    <a:bodyPr/>
                    <a:lstStyle/>
                    <a:p>
                      <a:r>
                        <a:rPr lang="en-US" sz="1200" dirty="0"/>
                        <a:t>1</a:t>
                      </a:r>
                      <a:endParaRPr lang="en-IN" sz="1200" dirty="0">
                        <a:latin typeface="Copperplate Gothic Light" panose="020E0507020206020404" pitchFamily="34" charset="0"/>
                      </a:endParaRPr>
                    </a:p>
                  </a:txBody>
                  <a:tcPr/>
                </a:tc>
                <a:extLst>
                  <a:ext uri="{0D108BD9-81ED-4DB2-BD59-A6C34878D82A}">
                    <a16:rowId xmlns:a16="http://schemas.microsoft.com/office/drawing/2014/main" val="3262992581"/>
                  </a:ext>
                </a:extLst>
              </a:tr>
              <a:tr h="370840">
                <a:tc>
                  <a:txBody>
                    <a:bodyPr/>
                    <a:lstStyle/>
                    <a:p>
                      <a:r>
                        <a:rPr lang="en-US" sz="1200" dirty="0"/>
                        <a:t>Master’s</a:t>
                      </a:r>
                      <a:endParaRPr lang="en-IN" sz="1200" dirty="0">
                        <a:latin typeface="Copperplate Gothic Light" panose="020E0507020206020404" pitchFamily="34" charset="0"/>
                      </a:endParaRPr>
                    </a:p>
                  </a:txBody>
                  <a:tcPr/>
                </a:tc>
                <a:tc>
                  <a:txBody>
                    <a:bodyPr/>
                    <a:lstStyle/>
                    <a:p>
                      <a:r>
                        <a:rPr lang="en-US" sz="1200" dirty="0"/>
                        <a:t>2</a:t>
                      </a:r>
                      <a:endParaRPr lang="en-IN" sz="1200" dirty="0">
                        <a:latin typeface="Copperplate Gothic Light" panose="020E0507020206020404" pitchFamily="34" charset="0"/>
                      </a:endParaRPr>
                    </a:p>
                  </a:txBody>
                  <a:tcPr/>
                </a:tc>
                <a:extLst>
                  <a:ext uri="{0D108BD9-81ED-4DB2-BD59-A6C34878D82A}">
                    <a16:rowId xmlns:a16="http://schemas.microsoft.com/office/drawing/2014/main" val="988154488"/>
                  </a:ext>
                </a:extLst>
              </a:tr>
              <a:tr h="370840">
                <a:tc>
                  <a:txBody>
                    <a:bodyPr/>
                    <a:lstStyle/>
                    <a:p>
                      <a:r>
                        <a:rPr lang="en-US" sz="1200" dirty="0"/>
                        <a:t>PhD</a:t>
                      </a:r>
                      <a:endParaRPr lang="en-IN" sz="1200" dirty="0">
                        <a:latin typeface="Copperplate Gothic Light" panose="020E0507020206020404" pitchFamily="34" charset="0"/>
                      </a:endParaRPr>
                    </a:p>
                  </a:txBody>
                  <a:tcPr/>
                </a:tc>
                <a:tc>
                  <a:txBody>
                    <a:bodyPr/>
                    <a:lstStyle/>
                    <a:p>
                      <a:r>
                        <a:rPr lang="en-US" sz="1200" dirty="0"/>
                        <a:t>3</a:t>
                      </a:r>
                      <a:endParaRPr lang="en-IN" sz="1200" dirty="0">
                        <a:latin typeface="Copperplate Gothic Light" panose="020E0507020206020404" pitchFamily="34" charset="0"/>
                      </a:endParaRPr>
                    </a:p>
                  </a:txBody>
                  <a:tcPr/>
                </a:tc>
                <a:extLst>
                  <a:ext uri="{0D108BD9-81ED-4DB2-BD59-A6C34878D82A}">
                    <a16:rowId xmlns:a16="http://schemas.microsoft.com/office/drawing/2014/main" val="2897662652"/>
                  </a:ext>
                </a:extLst>
              </a:tr>
            </a:tbl>
          </a:graphicData>
        </a:graphic>
      </p:graphicFrame>
      <p:sp>
        <p:nvSpPr>
          <p:cNvPr id="13" name="TextBox 12">
            <a:extLst>
              <a:ext uri="{FF2B5EF4-FFF2-40B4-BE49-F238E27FC236}">
                <a16:creationId xmlns:a16="http://schemas.microsoft.com/office/drawing/2014/main" id="{E442CBE7-289D-D7CB-FB3F-6D9AE00E373C}"/>
              </a:ext>
            </a:extLst>
          </p:cNvPr>
          <p:cNvSpPr txBox="1"/>
          <p:nvPr/>
        </p:nvSpPr>
        <p:spPr>
          <a:xfrm>
            <a:off x="2852928" y="4277276"/>
            <a:ext cx="2228302" cy="307777"/>
          </a:xfrm>
          <a:prstGeom prst="rect">
            <a:avLst/>
          </a:prstGeom>
          <a:noFill/>
          <a:ln>
            <a:solidFill>
              <a:schemeClr val="tx1"/>
            </a:solidFill>
          </a:ln>
        </p:spPr>
        <p:txBody>
          <a:bodyPr wrap="none" rtlCol="0">
            <a:spAutoFit/>
          </a:bodyPr>
          <a:lstStyle/>
          <a:p>
            <a:r>
              <a:rPr lang="en-US" sz="1400" b="1" dirty="0">
                <a:latin typeface="Copperplate Gothic Light" panose="020E0507020206020404" pitchFamily="34" charset="0"/>
              </a:rPr>
              <a:t>ORDINAL ENCODING</a:t>
            </a:r>
            <a:endParaRPr lang="en-IN" sz="1400" b="1" dirty="0">
              <a:latin typeface="Copperplate Gothic Light" panose="020E0507020206020404" pitchFamily="34" charset="0"/>
            </a:endParaRPr>
          </a:p>
        </p:txBody>
      </p:sp>
      <p:graphicFrame>
        <p:nvGraphicFramePr>
          <p:cNvPr id="14" name="Table 13">
            <a:extLst>
              <a:ext uri="{FF2B5EF4-FFF2-40B4-BE49-F238E27FC236}">
                <a16:creationId xmlns:a16="http://schemas.microsoft.com/office/drawing/2014/main" id="{060FD9D4-A4A1-4435-5CBD-962C78FACABF}"/>
              </a:ext>
            </a:extLst>
          </p:cNvPr>
          <p:cNvGraphicFramePr>
            <a:graphicFrameLocks noGrp="1"/>
          </p:cNvGraphicFramePr>
          <p:nvPr>
            <p:extLst>
              <p:ext uri="{D42A27DB-BD31-4B8C-83A1-F6EECF244321}">
                <p14:modId xmlns:p14="http://schemas.microsoft.com/office/powerpoint/2010/main" val="1818000557"/>
              </p:ext>
            </p:extLst>
          </p:nvPr>
        </p:nvGraphicFramePr>
        <p:xfrm>
          <a:off x="4050367" y="5192776"/>
          <a:ext cx="2228302" cy="1418337"/>
        </p:xfrm>
        <a:graphic>
          <a:graphicData uri="http://schemas.openxmlformats.org/drawingml/2006/table">
            <a:tbl>
              <a:tblPr firstRow="1" bandRow="1">
                <a:tableStyleId>{69CF1AB2-1976-4502-BF36-3FF5EA218861}</a:tableStyleId>
              </a:tblPr>
              <a:tblGrid>
                <a:gridCol w="1114151">
                  <a:extLst>
                    <a:ext uri="{9D8B030D-6E8A-4147-A177-3AD203B41FA5}">
                      <a16:colId xmlns:a16="http://schemas.microsoft.com/office/drawing/2014/main" val="2524233379"/>
                    </a:ext>
                  </a:extLst>
                </a:gridCol>
                <a:gridCol w="1114151">
                  <a:extLst>
                    <a:ext uri="{9D8B030D-6E8A-4147-A177-3AD203B41FA5}">
                      <a16:colId xmlns:a16="http://schemas.microsoft.com/office/drawing/2014/main" val="3160017613"/>
                    </a:ext>
                  </a:extLst>
                </a:gridCol>
              </a:tblGrid>
              <a:tr h="472779">
                <a:tc>
                  <a:txBody>
                    <a:bodyPr/>
                    <a:lstStyle/>
                    <a:p>
                      <a:r>
                        <a:rPr lang="en-US" sz="1400" b="0" dirty="0">
                          <a:latin typeface="Copperplate Gothic Light" panose="020E0507020206020404" pitchFamily="34" charset="0"/>
                        </a:rPr>
                        <a:t>LOW</a:t>
                      </a:r>
                      <a:endParaRPr lang="en-IN" sz="1400" b="0" dirty="0">
                        <a:latin typeface="Copperplate Gothic Light" panose="020E0507020206020404" pitchFamily="34" charset="0"/>
                      </a:endParaRPr>
                    </a:p>
                  </a:txBody>
                  <a:tcPr/>
                </a:tc>
                <a:tc>
                  <a:txBody>
                    <a:bodyPr/>
                    <a:lstStyle/>
                    <a:p>
                      <a:r>
                        <a:rPr lang="en-US" sz="1400" b="0" dirty="0">
                          <a:latin typeface="Copperplate Gothic Light" panose="020E0507020206020404" pitchFamily="34" charset="0"/>
                        </a:rPr>
                        <a:t>0</a:t>
                      </a:r>
                      <a:endParaRPr lang="en-IN" sz="1400" b="0" dirty="0">
                        <a:latin typeface="Copperplate Gothic Light" panose="020E0507020206020404" pitchFamily="34" charset="0"/>
                      </a:endParaRPr>
                    </a:p>
                  </a:txBody>
                  <a:tcPr/>
                </a:tc>
                <a:extLst>
                  <a:ext uri="{0D108BD9-81ED-4DB2-BD59-A6C34878D82A}">
                    <a16:rowId xmlns:a16="http://schemas.microsoft.com/office/drawing/2014/main" val="2970306278"/>
                  </a:ext>
                </a:extLst>
              </a:tr>
              <a:tr h="472779">
                <a:tc>
                  <a:txBody>
                    <a:bodyPr/>
                    <a:lstStyle/>
                    <a:p>
                      <a:r>
                        <a:rPr lang="en-US" sz="1400" dirty="0">
                          <a:latin typeface="Copperplate Gothic Light" panose="020E0507020206020404" pitchFamily="34" charset="0"/>
                        </a:rPr>
                        <a:t>MEDIUM</a:t>
                      </a:r>
                    </a:p>
                  </a:txBody>
                  <a:tcPr/>
                </a:tc>
                <a:tc>
                  <a:txBody>
                    <a:bodyPr/>
                    <a:lstStyle/>
                    <a:p>
                      <a:r>
                        <a:rPr lang="en-US" sz="1400" dirty="0">
                          <a:latin typeface="Copperplate Gothic Light" panose="020E0507020206020404" pitchFamily="34" charset="0"/>
                        </a:rPr>
                        <a:t>1</a:t>
                      </a:r>
                      <a:endParaRPr lang="en-IN" sz="1400" dirty="0">
                        <a:latin typeface="Copperplate Gothic Light" panose="020E0507020206020404" pitchFamily="34" charset="0"/>
                      </a:endParaRPr>
                    </a:p>
                  </a:txBody>
                  <a:tcPr/>
                </a:tc>
                <a:extLst>
                  <a:ext uri="{0D108BD9-81ED-4DB2-BD59-A6C34878D82A}">
                    <a16:rowId xmlns:a16="http://schemas.microsoft.com/office/drawing/2014/main" val="3107019685"/>
                  </a:ext>
                </a:extLst>
              </a:tr>
              <a:tr h="472779">
                <a:tc>
                  <a:txBody>
                    <a:bodyPr/>
                    <a:lstStyle/>
                    <a:p>
                      <a:r>
                        <a:rPr lang="en-US" sz="1400" dirty="0">
                          <a:latin typeface="Copperplate Gothic Light" panose="020E0507020206020404" pitchFamily="34" charset="0"/>
                        </a:rPr>
                        <a:t>HIGH</a:t>
                      </a:r>
                      <a:endParaRPr lang="en-IN" sz="1400" dirty="0">
                        <a:latin typeface="Copperplate Gothic Light" panose="020E0507020206020404" pitchFamily="34" charset="0"/>
                      </a:endParaRPr>
                    </a:p>
                  </a:txBody>
                  <a:tcPr/>
                </a:tc>
                <a:tc>
                  <a:txBody>
                    <a:bodyPr/>
                    <a:lstStyle/>
                    <a:p>
                      <a:r>
                        <a:rPr lang="en-US" sz="1400" dirty="0">
                          <a:latin typeface="Copperplate Gothic Light" panose="020E0507020206020404" pitchFamily="34" charset="0"/>
                        </a:rPr>
                        <a:t>2</a:t>
                      </a:r>
                      <a:endParaRPr lang="en-IN" sz="1400" dirty="0">
                        <a:latin typeface="Copperplate Gothic Light" panose="020E0507020206020404" pitchFamily="34" charset="0"/>
                      </a:endParaRPr>
                    </a:p>
                  </a:txBody>
                  <a:tcPr/>
                </a:tc>
                <a:extLst>
                  <a:ext uri="{0D108BD9-81ED-4DB2-BD59-A6C34878D82A}">
                    <a16:rowId xmlns:a16="http://schemas.microsoft.com/office/drawing/2014/main" val="275136122"/>
                  </a:ext>
                </a:extLst>
              </a:tr>
            </a:tbl>
          </a:graphicData>
        </a:graphic>
      </p:graphicFrame>
      <p:cxnSp>
        <p:nvCxnSpPr>
          <p:cNvPr id="16" name="Straight Arrow Connector 15">
            <a:extLst>
              <a:ext uri="{FF2B5EF4-FFF2-40B4-BE49-F238E27FC236}">
                <a16:creationId xmlns:a16="http://schemas.microsoft.com/office/drawing/2014/main" id="{4D8F8EA5-F4F1-6D3C-E28C-34437216321D}"/>
              </a:ext>
            </a:extLst>
          </p:cNvPr>
          <p:cNvCxnSpPr>
            <a:stCxn id="13" idx="2"/>
            <a:endCxn id="12" idx="0"/>
          </p:cNvCxnSpPr>
          <p:nvPr/>
        </p:nvCxnSpPr>
        <p:spPr>
          <a:xfrm flipH="1">
            <a:off x="2360167" y="4585053"/>
            <a:ext cx="1606912" cy="607723"/>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8F91AD6C-D419-5343-503C-47BE02DDBEC5}"/>
              </a:ext>
            </a:extLst>
          </p:cNvPr>
          <p:cNvCxnSpPr>
            <a:stCxn id="13" idx="2"/>
            <a:endCxn id="14" idx="0"/>
          </p:cNvCxnSpPr>
          <p:nvPr/>
        </p:nvCxnSpPr>
        <p:spPr>
          <a:xfrm>
            <a:off x="3967079" y="4585053"/>
            <a:ext cx="1197439" cy="607723"/>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20" name="Picture 19" descr="A screen shot of a computer program">
            <a:extLst>
              <a:ext uri="{FF2B5EF4-FFF2-40B4-BE49-F238E27FC236}">
                <a16:creationId xmlns:a16="http://schemas.microsoft.com/office/drawing/2014/main" id="{9F9EF4A4-A1F9-401E-0BD6-DCE44F8A3539}"/>
              </a:ext>
            </a:extLst>
          </p:cNvPr>
          <p:cNvPicPr>
            <a:picLocks noChangeAspect="1"/>
          </p:cNvPicPr>
          <p:nvPr/>
        </p:nvPicPr>
        <p:blipFill>
          <a:blip r:embed="rId3"/>
          <a:stretch>
            <a:fillRect/>
          </a:stretch>
        </p:blipFill>
        <p:spPr>
          <a:xfrm>
            <a:off x="5861304" y="2435108"/>
            <a:ext cx="6062176" cy="1811222"/>
          </a:xfrm>
          <a:prstGeom prst="rect">
            <a:avLst/>
          </a:prstGeom>
        </p:spPr>
      </p:pic>
      <p:pic>
        <p:nvPicPr>
          <p:cNvPr id="22" name="Picture 21" descr="A black screen with white text">
            <a:extLst>
              <a:ext uri="{FF2B5EF4-FFF2-40B4-BE49-F238E27FC236}">
                <a16:creationId xmlns:a16="http://schemas.microsoft.com/office/drawing/2014/main" id="{9D603261-26B5-A28A-93AF-89E79B235832}"/>
              </a:ext>
            </a:extLst>
          </p:cNvPr>
          <p:cNvPicPr>
            <a:picLocks noChangeAspect="1"/>
          </p:cNvPicPr>
          <p:nvPr/>
        </p:nvPicPr>
        <p:blipFill>
          <a:blip r:embed="rId4"/>
          <a:stretch>
            <a:fillRect/>
          </a:stretch>
        </p:blipFill>
        <p:spPr>
          <a:xfrm>
            <a:off x="6562376" y="4723009"/>
            <a:ext cx="5260067" cy="1503795"/>
          </a:xfrm>
          <a:prstGeom prst="rect">
            <a:avLst/>
          </a:prstGeom>
        </p:spPr>
      </p:pic>
    </p:spTree>
    <p:extLst>
      <p:ext uri="{BB962C8B-B14F-4D97-AF65-F5344CB8AC3E}">
        <p14:creationId xmlns:p14="http://schemas.microsoft.com/office/powerpoint/2010/main" val="3479332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4E2E5-3D29-8C2C-DF60-183C4F4936B4}"/>
              </a:ext>
            </a:extLst>
          </p:cNvPr>
          <p:cNvSpPr>
            <a:spLocks noGrp="1"/>
          </p:cNvSpPr>
          <p:nvPr>
            <p:ph type="title"/>
          </p:nvPr>
        </p:nvSpPr>
        <p:spPr>
          <a:xfrm>
            <a:off x="2317941" y="210313"/>
            <a:ext cx="6867143" cy="670560"/>
          </a:xfrm>
        </p:spPr>
        <p:txBody>
          <a:bodyPr>
            <a:normAutofit fontScale="90000"/>
          </a:bodyPr>
          <a:lstStyle/>
          <a:p>
            <a:pPr algn="ctr"/>
            <a:br>
              <a:rPr lang="en-US" u="sng" dirty="0">
                <a:solidFill>
                  <a:schemeClr val="lt1"/>
                </a:solidFill>
                <a:latin typeface="Copperplate Gothic Bold" panose="020E0705020206020404" pitchFamily="34" charset="0"/>
                <a:ea typeface="Impact"/>
                <a:cs typeface="Impact"/>
                <a:sym typeface="Impact"/>
              </a:rPr>
            </a:br>
            <a:r>
              <a:rPr lang="en-US" u="sng" dirty="0">
                <a:solidFill>
                  <a:schemeClr val="lt1"/>
                </a:solidFill>
                <a:latin typeface="Copperplate Gothic Bold" panose="020E0705020206020404" pitchFamily="34" charset="0"/>
                <a:ea typeface="Impact"/>
                <a:cs typeface="Impact"/>
                <a:sym typeface="Impact"/>
              </a:rPr>
              <a:t>CLASSIFICATION MODELS</a:t>
            </a:r>
            <a:br>
              <a:rPr lang="en-US" u="sng" dirty="0">
                <a:solidFill>
                  <a:schemeClr val="lt1"/>
                </a:solidFill>
                <a:latin typeface="Copperplate Gothic Bold" panose="020E0705020206020404" pitchFamily="34" charset="0"/>
                <a:ea typeface="Impact"/>
                <a:cs typeface="Impact"/>
                <a:sym typeface="Impact"/>
              </a:rPr>
            </a:br>
            <a:endParaRPr lang="en-IN" u="sng" dirty="0">
              <a:latin typeface="Copperplate Gothic Bold" panose="020E0705020206020404" pitchFamily="34" charset="0"/>
            </a:endParaRPr>
          </a:p>
        </p:txBody>
      </p:sp>
      <p:sp>
        <p:nvSpPr>
          <p:cNvPr id="4" name="TextBox 3">
            <a:extLst>
              <a:ext uri="{FF2B5EF4-FFF2-40B4-BE49-F238E27FC236}">
                <a16:creationId xmlns:a16="http://schemas.microsoft.com/office/drawing/2014/main" id="{28D07605-2C25-9881-88D3-56D05AEE50F0}"/>
              </a:ext>
            </a:extLst>
          </p:cNvPr>
          <p:cNvSpPr txBox="1"/>
          <p:nvPr/>
        </p:nvSpPr>
        <p:spPr>
          <a:xfrm>
            <a:off x="4372356" y="996696"/>
            <a:ext cx="3447288" cy="369332"/>
          </a:xfrm>
          <a:prstGeom prst="rect">
            <a:avLst/>
          </a:prstGeom>
          <a:noFill/>
        </p:spPr>
        <p:txBody>
          <a:bodyPr wrap="square" rtlCol="0">
            <a:spAutoFit/>
          </a:bodyPr>
          <a:lstStyle/>
          <a:p>
            <a:pPr lvl="0"/>
            <a:r>
              <a:rPr lang="en-US" b="1" u="sng" dirty="0">
                <a:solidFill>
                  <a:schemeClr val="lt1"/>
                </a:solidFill>
                <a:latin typeface="Copperplate Gothic Bold" panose="020E0705020206020404" pitchFamily="34" charset="0"/>
                <a:ea typeface="Times New Roman"/>
                <a:cs typeface="Times New Roman"/>
                <a:sym typeface="Times New Roman"/>
              </a:rPr>
              <a:t>1. LOGISTIC REGRESSION </a:t>
            </a:r>
          </a:p>
        </p:txBody>
      </p:sp>
      <p:sp>
        <p:nvSpPr>
          <p:cNvPr id="5" name="Google Shape;183;p18">
            <a:extLst>
              <a:ext uri="{FF2B5EF4-FFF2-40B4-BE49-F238E27FC236}">
                <a16:creationId xmlns:a16="http://schemas.microsoft.com/office/drawing/2014/main" id="{1BE18F64-EC65-F42B-E9EA-FFE22E4AEDA8}"/>
              </a:ext>
            </a:extLst>
          </p:cNvPr>
          <p:cNvSpPr/>
          <p:nvPr/>
        </p:nvSpPr>
        <p:spPr>
          <a:xfrm>
            <a:off x="533401" y="1343168"/>
            <a:ext cx="6315455" cy="1504188"/>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dirty="0">
                <a:solidFill>
                  <a:schemeClr val="lt1"/>
                </a:solidFill>
                <a:latin typeface="Copperplate Gothic Light" panose="020E0507020206020404" pitchFamily="34" charset="0"/>
                <a:ea typeface="Times New Roman"/>
                <a:cs typeface="Times New Roman"/>
                <a:sym typeface="Times New Roman"/>
              </a:rPr>
              <a:t>Logistic regression is used for </a:t>
            </a:r>
            <a:r>
              <a:rPr lang="en-US" u="sng" dirty="0">
                <a:solidFill>
                  <a:schemeClr val="lt1"/>
                </a:solidFill>
                <a:latin typeface="Copperplate Gothic Light" panose="020E0507020206020404" pitchFamily="34" charset="0"/>
                <a:ea typeface="Times New Roman"/>
                <a:cs typeface="Times New Roman"/>
                <a:sym typeface="Times New Roman"/>
              </a:rPr>
              <a:t>binary classification</a:t>
            </a:r>
            <a:r>
              <a:rPr lang="en-US" dirty="0">
                <a:solidFill>
                  <a:schemeClr val="lt1"/>
                </a:solidFill>
                <a:latin typeface="Copperplate Gothic Light" panose="020E0507020206020404" pitchFamily="34" charset="0"/>
                <a:ea typeface="Times New Roman"/>
                <a:cs typeface="Times New Roman"/>
                <a:sym typeface="Times New Roman"/>
              </a:rPr>
              <a:t> where </a:t>
            </a:r>
            <a:r>
              <a:rPr lang="en-US" u="sng" dirty="0">
                <a:solidFill>
                  <a:schemeClr val="lt1"/>
                </a:solidFill>
                <a:latin typeface="Copperplate Gothic Light" panose="020E0507020206020404" pitchFamily="34" charset="0"/>
                <a:ea typeface="Times New Roman"/>
                <a:cs typeface="Times New Roman"/>
                <a:sym typeface="Times New Roman"/>
              </a:rPr>
              <a:t>Sigmoid function </a:t>
            </a:r>
            <a:r>
              <a:rPr lang="en-US" dirty="0">
                <a:solidFill>
                  <a:schemeClr val="lt1"/>
                </a:solidFill>
                <a:latin typeface="Copperplate Gothic Light" panose="020E0507020206020404" pitchFamily="34" charset="0"/>
                <a:ea typeface="Times New Roman"/>
                <a:cs typeface="Times New Roman"/>
                <a:sym typeface="Times New Roman"/>
              </a:rPr>
              <a:t>is used , that takes input as independent variables and produces a probability </a:t>
            </a:r>
            <a:r>
              <a:rPr lang="en-US" u="sng" dirty="0">
                <a:solidFill>
                  <a:schemeClr val="lt1"/>
                </a:solidFill>
                <a:latin typeface="Copperplate Gothic Light" panose="020E0507020206020404" pitchFamily="34" charset="0"/>
                <a:ea typeface="Times New Roman"/>
                <a:cs typeface="Times New Roman"/>
                <a:sym typeface="Times New Roman"/>
              </a:rPr>
              <a:t>value between 0 and 1</a:t>
            </a:r>
            <a:r>
              <a:rPr lang="en-US" dirty="0">
                <a:solidFill>
                  <a:schemeClr val="lt1"/>
                </a:solidFill>
                <a:latin typeface="Copperplate Gothic Light" panose="020E0507020206020404" pitchFamily="34" charset="0"/>
                <a:ea typeface="Times New Roman"/>
                <a:cs typeface="Times New Roman"/>
                <a:sym typeface="Times New Roman"/>
              </a:rPr>
              <a:t>.</a:t>
            </a:r>
            <a:endParaRPr b="0" i="0" u="none" strike="noStrike" cap="none" dirty="0">
              <a:solidFill>
                <a:schemeClr val="lt1"/>
              </a:solidFill>
              <a:latin typeface="Copperplate Gothic Light" panose="020E0507020206020404" pitchFamily="34" charset="0"/>
              <a:ea typeface="Times New Roman"/>
              <a:cs typeface="Times New Roman"/>
              <a:sym typeface="Times New Roman"/>
            </a:endParaRPr>
          </a:p>
        </p:txBody>
      </p:sp>
      <p:pic>
        <p:nvPicPr>
          <p:cNvPr id="7" name="Picture 6" descr="A graph of a logistic regression">
            <a:extLst>
              <a:ext uri="{FF2B5EF4-FFF2-40B4-BE49-F238E27FC236}">
                <a16:creationId xmlns:a16="http://schemas.microsoft.com/office/drawing/2014/main" id="{F6EEEE36-335C-38BB-99E1-C61C310BE7FA}"/>
              </a:ext>
            </a:extLst>
          </p:cNvPr>
          <p:cNvPicPr>
            <a:picLocks noChangeAspect="1"/>
          </p:cNvPicPr>
          <p:nvPr/>
        </p:nvPicPr>
        <p:blipFill>
          <a:blip r:embed="rId2"/>
          <a:stretch>
            <a:fillRect/>
          </a:stretch>
        </p:blipFill>
        <p:spPr>
          <a:xfrm>
            <a:off x="716280" y="3193828"/>
            <a:ext cx="4716927" cy="2784185"/>
          </a:xfrm>
          <a:prstGeom prst="rect">
            <a:avLst/>
          </a:prstGeom>
        </p:spPr>
      </p:pic>
      <p:pic>
        <p:nvPicPr>
          <p:cNvPr id="9" name="Picture 8" descr="A black screen with white text">
            <a:extLst>
              <a:ext uri="{FF2B5EF4-FFF2-40B4-BE49-F238E27FC236}">
                <a16:creationId xmlns:a16="http://schemas.microsoft.com/office/drawing/2014/main" id="{5887187E-1175-C1FF-DF5E-653F27280541}"/>
              </a:ext>
            </a:extLst>
          </p:cNvPr>
          <p:cNvPicPr>
            <a:picLocks noChangeAspect="1"/>
          </p:cNvPicPr>
          <p:nvPr/>
        </p:nvPicPr>
        <p:blipFill>
          <a:blip r:embed="rId3"/>
          <a:stretch>
            <a:fillRect/>
          </a:stretch>
        </p:blipFill>
        <p:spPr>
          <a:xfrm>
            <a:off x="6339244" y="2913368"/>
            <a:ext cx="5520524" cy="1504188"/>
          </a:xfrm>
          <a:prstGeom prst="rect">
            <a:avLst/>
          </a:prstGeom>
        </p:spPr>
      </p:pic>
      <p:sp>
        <p:nvSpPr>
          <p:cNvPr id="10" name="TextBox 9">
            <a:extLst>
              <a:ext uri="{FF2B5EF4-FFF2-40B4-BE49-F238E27FC236}">
                <a16:creationId xmlns:a16="http://schemas.microsoft.com/office/drawing/2014/main" id="{DB051B3D-FC8F-046B-BAC1-89B1C4337D56}"/>
              </a:ext>
            </a:extLst>
          </p:cNvPr>
          <p:cNvSpPr txBox="1"/>
          <p:nvPr/>
        </p:nvSpPr>
        <p:spPr>
          <a:xfrm>
            <a:off x="7523607" y="6126885"/>
            <a:ext cx="4336161" cy="646331"/>
          </a:xfrm>
          <a:prstGeom prst="rect">
            <a:avLst/>
          </a:prstGeom>
          <a:noFill/>
        </p:spPr>
        <p:txBody>
          <a:bodyPr wrap="square" rtlCol="0">
            <a:spAutoFit/>
          </a:bodyPr>
          <a:lstStyle/>
          <a:p>
            <a:r>
              <a:rPr lang="en-IN" dirty="0">
                <a:hlinkClick r:id="rId4"/>
              </a:rPr>
              <a:t>https://www.geeksforgeeks.org/machine-learning/understanding-logistic-regression/</a:t>
            </a:r>
            <a:endParaRPr lang="en-IN" dirty="0"/>
          </a:p>
        </p:txBody>
      </p:sp>
    </p:spTree>
    <p:extLst>
      <p:ext uri="{BB962C8B-B14F-4D97-AF65-F5344CB8AC3E}">
        <p14:creationId xmlns:p14="http://schemas.microsoft.com/office/powerpoint/2010/main" val="815086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9FD707-97A7-D911-0A28-59531178B611}"/>
              </a:ext>
            </a:extLst>
          </p:cNvPr>
          <p:cNvSpPr txBox="1"/>
          <p:nvPr/>
        </p:nvSpPr>
        <p:spPr>
          <a:xfrm>
            <a:off x="3566160" y="426196"/>
            <a:ext cx="4407408" cy="400110"/>
          </a:xfrm>
          <a:prstGeom prst="rect">
            <a:avLst/>
          </a:prstGeom>
          <a:noFill/>
        </p:spPr>
        <p:txBody>
          <a:bodyPr wrap="square" rtlCol="0">
            <a:spAutoFit/>
          </a:bodyPr>
          <a:lstStyle/>
          <a:p>
            <a:r>
              <a:rPr lang="en-IN" sz="2000" u="sng" dirty="0">
                <a:latin typeface="Copperplate Gothic Bold" panose="020E0705020206020404" pitchFamily="34" charset="0"/>
              </a:rPr>
              <a:t>2. K-Nearest </a:t>
            </a:r>
            <a:r>
              <a:rPr lang="en-IN" sz="2000" u="sng" dirty="0" err="1">
                <a:latin typeface="Copperplate Gothic Bold" panose="020E0705020206020404" pitchFamily="34" charset="0"/>
              </a:rPr>
              <a:t>Neighbors</a:t>
            </a:r>
            <a:r>
              <a:rPr lang="en-IN" sz="2000" u="sng" dirty="0">
                <a:latin typeface="Copperplate Gothic Bold" panose="020E0705020206020404" pitchFamily="34" charset="0"/>
              </a:rPr>
              <a:t> (KNN)</a:t>
            </a:r>
          </a:p>
        </p:txBody>
      </p:sp>
      <p:sp>
        <p:nvSpPr>
          <p:cNvPr id="5" name="TextBox 4">
            <a:extLst>
              <a:ext uri="{FF2B5EF4-FFF2-40B4-BE49-F238E27FC236}">
                <a16:creationId xmlns:a16="http://schemas.microsoft.com/office/drawing/2014/main" id="{4EACF3AB-79B1-A740-24B2-3D61A726AA31}"/>
              </a:ext>
            </a:extLst>
          </p:cNvPr>
          <p:cNvSpPr txBox="1"/>
          <p:nvPr/>
        </p:nvSpPr>
        <p:spPr>
          <a:xfrm>
            <a:off x="694944" y="1051560"/>
            <a:ext cx="5943600" cy="2862322"/>
          </a:xfrm>
          <a:prstGeom prst="rect">
            <a:avLst/>
          </a:prstGeom>
          <a:noFill/>
        </p:spPr>
        <p:txBody>
          <a:bodyPr wrap="square" rtlCol="0">
            <a:spAutoFit/>
          </a:bodyPr>
          <a:lstStyle/>
          <a:p>
            <a:r>
              <a:rPr lang="en-US" dirty="0">
                <a:latin typeface="Copperplate Gothic Light" panose="020E0507020206020404" pitchFamily="34" charset="0"/>
              </a:rPr>
              <a:t>A lazy learning algorithm that classifies a data point based on the majority class of its nearest neighbors.</a:t>
            </a:r>
          </a:p>
          <a:p>
            <a:r>
              <a:rPr lang="en-US" b="1" dirty="0">
                <a:latin typeface="Copperplate Gothic Light" panose="020E0507020206020404" pitchFamily="34" charset="0"/>
              </a:rPr>
              <a:t>How It Works:</a:t>
            </a:r>
          </a:p>
          <a:p>
            <a:pPr marL="285750" indent="-285750">
              <a:buFont typeface="Wingdings" panose="05000000000000000000" pitchFamily="2" charset="2"/>
              <a:buChar char="q"/>
            </a:pPr>
            <a:r>
              <a:rPr lang="en-US" dirty="0">
                <a:latin typeface="Copperplate Gothic Light" panose="020E0507020206020404" pitchFamily="34" charset="0"/>
              </a:rPr>
              <a:t>Calculates distance (Euclidean) between students</a:t>
            </a:r>
          </a:p>
          <a:p>
            <a:pPr marL="285750" indent="-285750">
              <a:buFont typeface="Wingdings" panose="05000000000000000000" pitchFamily="2" charset="2"/>
              <a:buChar char="q"/>
            </a:pPr>
            <a:r>
              <a:rPr lang="en-US" dirty="0">
                <a:latin typeface="Copperplate Gothic Light" panose="020E0507020206020404" pitchFamily="34" charset="0"/>
              </a:rPr>
              <a:t>Finds </a:t>
            </a:r>
            <a:r>
              <a:rPr lang="en-US" b="1" dirty="0">
                <a:latin typeface="Copperplate Gothic Light" panose="020E0507020206020404" pitchFamily="34" charset="0"/>
              </a:rPr>
              <a:t>k</a:t>
            </a:r>
            <a:r>
              <a:rPr lang="en-US" dirty="0">
                <a:latin typeface="Copperplate Gothic Light" panose="020E0507020206020404" pitchFamily="34" charset="0"/>
              </a:rPr>
              <a:t> nearest neighbors</a:t>
            </a:r>
          </a:p>
          <a:p>
            <a:pPr marL="285750" indent="-285750">
              <a:buFont typeface="Wingdings" panose="05000000000000000000" pitchFamily="2" charset="2"/>
              <a:buChar char="q"/>
            </a:pPr>
            <a:r>
              <a:rPr lang="en-US" dirty="0">
                <a:latin typeface="Copperplate Gothic Light" panose="020E0507020206020404" pitchFamily="34" charset="0"/>
              </a:rPr>
              <a:t>Chooses the most common grade among them</a:t>
            </a:r>
          </a:p>
          <a:p>
            <a:endParaRPr lang="en-US" dirty="0">
              <a:latin typeface="Copperplate Gothic Light" panose="020E0507020206020404" pitchFamily="34" charset="0"/>
            </a:endParaRPr>
          </a:p>
        </p:txBody>
      </p:sp>
      <p:pic>
        <p:nvPicPr>
          <p:cNvPr id="9" name="Picture 8" descr="A comparison of red and blue dots&#10;&#10;AI-generated content may be incorrect.">
            <a:extLst>
              <a:ext uri="{FF2B5EF4-FFF2-40B4-BE49-F238E27FC236}">
                <a16:creationId xmlns:a16="http://schemas.microsoft.com/office/drawing/2014/main" id="{FF04FD71-9500-C594-964B-91040C4075A9}"/>
              </a:ext>
            </a:extLst>
          </p:cNvPr>
          <p:cNvPicPr>
            <a:picLocks noChangeAspect="1"/>
          </p:cNvPicPr>
          <p:nvPr/>
        </p:nvPicPr>
        <p:blipFill>
          <a:blip r:embed="rId2"/>
          <a:stretch>
            <a:fillRect/>
          </a:stretch>
        </p:blipFill>
        <p:spPr>
          <a:xfrm>
            <a:off x="580644" y="3831479"/>
            <a:ext cx="5715000" cy="2600325"/>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023C0D97-7D35-297F-377B-337038569F46}"/>
              </a:ext>
            </a:extLst>
          </p:cNvPr>
          <p:cNvPicPr>
            <a:picLocks noChangeAspect="1"/>
          </p:cNvPicPr>
          <p:nvPr/>
        </p:nvPicPr>
        <p:blipFill>
          <a:blip r:embed="rId3"/>
          <a:stretch>
            <a:fillRect/>
          </a:stretch>
        </p:blipFill>
        <p:spPr>
          <a:xfrm>
            <a:off x="6747915" y="1726500"/>
            <a:ext cx="5175861" cy="3002445"/>
          </a:xfrm>
          <a:prstGeom prst="rect">
            <a:avLst/>
          </a:prstGeom>
        </p:spPr>
      </p:pic>
      <p:sp>
        <p:nvSpPr>
          <p:cNvPr id="2" name="TextBox 1">
            <a:extLst>
              <a:ext uri="{FF2B5EF4-FFF2-40B4-BE49-F238E27FC236}">
                <a16:creationId xmlns:a16="http://schemas.microsoft.com/office/drawing/2014/main" id="{7379E59C-7F23-933F-DAB8-3983D1BFD880}"/>
              </a:ext>
            </a:extLst>
          </p:cNvPr>
          <p:cNvSpPr txBox="1"/>
          <p:nvPr/>
        </p:nvSpPr>
        <p:spPr>
          <a:xfrm>
            <a:off x="7388352" y="5971032"/>
            <a:ext cx="3739896" cy="646331"/>
          </a:xfrm>
          <a:prstGeom prst="rect">
            <a:avLst/>
          </a:prstGeom>
          <a:noFill/>
        </p:spPr>
        <p:txBody>
          <a:bodyPr wrap="square" rtlCol="0">
            <a:spAutoFit/>
          </a:bodyPr>
          <a:lstStyle/>
          <a:p>
            <a:r>
              <a:rPr lang="en-IN" dirty="0">
                <a:hlinkClick r:id="rId4"/>
              </a:rPr>
              <a:t>https://www.geeksforgeeks.org/machine-learning/k-nearest-neighbours/</a:t>
            </a:r>
            <a:endParaRPr lang="en-IN" dirty="0"/>
          </a:p>
        </p:txBody>
      </p:sp>
    </p:spTree>
    <p:extLst>
      <p:ext uri="{BB962C8B-B14F-4D97-AF65-F5344CB8AC3E}">
        <p14:creationId xmlns:p14="http://schemas.microsoft.com/office/powerpoint/2010/main" val="1273113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F0A5EF-F17D-E1CB-0FE0-82FE7BF7C40D}"/>
              </a:ext>
            </a:extLst>
          </p:cNvPr>
          <p:cNvSpPr txBox="1"/>
          <p:nvPr/>
        </p:nvSpPr>
        <p:spPr>
          <a:xfrm>
            <a:off x="3655492" y="429768"/>
            <a:ext cx="4881016" cy="461665"/>
          </a:xfrm>
          <a:prstGeom prst="rect">
            <a:avLst/>
          </a:prstGeom>
          <a:noFill/>
        </p:spPr>
        <p:txBody>
          <a:bodyPr wrap="none" rtlCol="0">
            <a:spAutoFit/>
          </a:bodyPr>
          <a:lstStyle/>
          <a:p>
            <a:r>
              <a:rPr lang="en-IN" sz="2400" u="sng" dirty="0">
                <a:latin typeface="Copperplate Gothic Bold" panose="020E0705020206020404" pitchFamily="34" charset="0"/>
              </a:rPr>
              <a:t>3. Support Vector Machine</a:t>
            </a:r>
          </a:p>
        </p:txBody>
      </p:sp>
      <p:sp>
        <p:nvSpPr>
          <p:cNvPr id="11" name="TextBox 10">
            <a:extLst>
              <a:ext uri="{FF2B5EF4-FFF2-40B4-BE49-F238E27FC236}">
                <a16:creationId xmlns:a16="http://schemas.microsoft.com/office/drawing/2014/main" id="{D1B188D7-229E-2091-58F6-EE141E477149}"/>
              </a:ext>
            </a:extLst>
          </p:cNvPr>
          <p:cNvSpPr txBox="1"/>
          <p:nvPr/>
        </p:nvSpPr>
        <p:spPr>
          <a:xfrm>
            <a:off x="619684" y="1143000"/>
            <a:ext cx="6071616" cy="646331"/>
          </a:xfrm>
          <a:prstGeom prst="rect">
            <a:avLst/>
          </a:prstGeom>
          <a:noFill/>
        </p:spPr>
        <p:txBody>
          <a:bodyPr wrap="square" rtlCol="0">
            <a:spAutoFit/>
          </a:bodyPr>
          <a:lstStyle/>
          <a:p>
            <a:r>
              <a:rPr lang="en-US" dirty="0">
                <a:latin typeface="Copperplate Gothic Light" panose="020E0507020206020404" pitchFamily="34" charset="0"/>
              </a:rPr>
              <a:t>A powerful classifier that finds the best boundary (hyperplane) that separates classes.</a:t>
            </a:r>
          </a:p>
        </p:txBody>
      </p:sp>
      <p:sp>
        <p:nvSpPr>
          <p:cNvPr id="12" name="TextBox 11">
            <a:extLst>
              <a:ext uri="{FF2B5EF4-FFF2-40B4-BE49-F238E27FC236}">
                <a16:creationId xmlns:a16="http://schemas.microsoft.com/office/drawing/2014/main" id="{88D6D71F-9C7B-DCE8-9F7B-DE107078777F}"/>
              </a:ext>
            </a:extLst>
          </p:cNvPr>
          <p:cNvSpPr txBox="1"/>
          <p:nvPr/>
        </p:nvSpPr>
        <p:spPr>
          <a:xfrm flipV="1">
            <a:off x="2972371" y="6194563"/>
            <a:ext cx="1872394" cy="69753"/>
          </a:xfrm>
          <a:prstGeom prst="rect">
            <a:avLst/>
          </a:prstGeom>
          <a:noFill/>
        </p:spPr>
        <p:txBody>
          <a:bodyPr wrap="square" rtlCol="0">
            <a:spAutoFit/>
          </a:bodyPr>
          <a:lstStyle/>
          <a:p>
            <a:endParaRPr lang="en-IN" dirty="0"/>
          </a:p>
        </p:txBody>
      </p:sp>
      <p:sp>
        <p:nvSpPr>
          <p:cNvPr id="16" name="Rectangle 8">
            <a:extLst>
              <a:ext uri="{FF2B5EF4-FFF2-40B4-BE49-F238E27FC236}">
                <a16:creationId xmlns:a16="http://schemas.microsoft.com/office/drawing/2014/main" id="{EFA64424-28E0-9D99-DAA3-C3897E2B61A1}"/>
              </a:ext>
            </a:extLst>
          </p:cNvPr>
          <p:cNvSpPr>
            <a:spLocks noChangeArrowheads="1"/>
          </p:cNvSpPr>
          <p:nvPr/>
        </p:nvSpPr>
        <p:spPr bwMode="auto">
          <a:xfrm>
            <a:off x="2213208" y="2832854"/>
            <a:ext cx="2907792" cy="646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0">
            <a:extLst>
              <a:ext uri="{FF2B5EF4-FFF2-40B4-BE49-F238E27FC236}">
                <a16:creationId xmlns:a16="http://schemas.microsoft.com/office/drawing/2014/main" id="{316C4BBA-4BFD-BD3E-CD1B-92ED655DBBEC}"/>
              </a:ext>
            </a:extLst>
          </p:cNvPr>
          <p:cNvSpPr>
            <a:spLocks noChangeArrowheads="1"/>
          </p:cNvSpPr>
          <p:nvPr/>
        </p:nvSpPr>
        <p:spPr bwMode="auto">
          <a:xfrm>
            <a:off x="555676" y="1683559"/>
            <a:ext cx="785070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Copperplate Gothic Light" panose="020E0507020206020404" pitchFamily="34" charset="0"/>
              </a:rPr>
              <a:t>Maps data to a higher dimension using kernel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Copperplate Gothic Light" panose="020E0507020206020404" pitchFamily="34" charset="0"/>
              </a:rPr>
              <a:t>Finds boundary that maximizes margin between grade groups</a:t>
            </a:r>
          </a:p>
        </p:txBody>
      </p:sp>
      <p:pic>
        <p:nvPicPr>
          <p:cNvPr id="20" name="Picture 19" descr="A diagram of a diagram&#10;&#10;AI-generated content may be incorrect.">
            <a:extLst>
              <a:ext uri="{FF2B5EF4-FFF2-40B4-BE49-F238E27FC236}">
                <a16:creationId xmlns:a16="http://schemas.microsoft.com/office/drawing/2014/main" id="{815A7A80-A092-08E1-74E2-49214A04818B}"/>
              </a:ext>
            </a:extLst>
          </p:cNvPr>
          <p:cNvPicPr>
            <a:picLocks noChangeAspect="1"/>
          </p:cNvPicPr>
          <p:nvPr/>
        </p:nvPicPr>
        <p:blipFill>
          <a:blip r:embed="rId2"/>
          <a:stretch>
            <a:fillRect/>
          </a:stretch>
        </p:blipFill>
        <p:spPr>
          <a:xfrm>
            <a:off x="1067371" y="3067812"/>
            <a:ext cx="3810000" cy="2667000"/>
          </a:xfrm>
          <a:prstGeom prst="rect">
            <a:avLst/>
          </a:prstGeom>
        </p:spPr>
      </p:pic>
      <p:pic>
        <p:nvPicPr>
          <p:cNvPr id="22" name="Picture 21" descr="A screen shot of a computer program&#10;&#10;AI-generated content may be incorrect.">
            <a:extLst>
              <a:ext uri="{FF2B5EF4-FFF2-40B4-BE49-F238E27FC236}">
                <a16:creationId xmlns:a16="http://schemas.microsoft.com/office/drawing/2014/main" id="{AA5E99BA-22AD-7091-847A-BCEE56A1E99B}"/>
              </a:ext>
            </a:extLst>
          </p:cNvPr>
          <p:cNvPicPr>
            <a:picLocks noChangeAspect="1"/>
          </p:cNvPicPr>
          <p:nvPr/>
        </p:nvPicPr>
        <p:blipFill>
          <a:blip r:embed="rId3"/>
          <a:stretch>
            <a:fillRect/>
          </a:stretch>
        </p:blipFill>
        <p:spPr>
          <a:xfrm>
            <a:off x="5923822" y="3055225"/>
            <a:ext cx="5609420" cy="2000529"/>
          </a:xfrm>
          <a:prstGeom prst="rect">
            <a:avLst/>
          </a:prstGeom>
        </p:spPr>
      </p:pic>
      <p:sp>
        <p:nvSpPr>
          <p:cNvPr id="23" name="TextBox 22">
            <a:extLst>
              <a:ext uri="{FF2B5EF4-FFF2-40B4-BE49-F238E27FC236}">
                <a16:creationId xmlns:a16="http://schemas.microsoft.com/office/drawing/2014/main" id="{987642CE-68EB-4053-459B-7EDD7C29537B}"/>
              </a:ext>
            </a:extLst>
          </p:cNvPr>
          <p:cNvSpPr txBox="1"/>
          <p:nvPr/>
        </p:nvSpPr>
        <p:spPr>
          <a:xfrm>
            <a:off x="7095744" y="5734812"/>
            <a:ext cx="3675888" cy="923330"/>
          </a:xfrm>
          <a:prstGeom prst="rect">
            <a:avLst/>
          </a:prstGeom>
          <a:noFill/>
        </p:spPr>
        <p:txBody>
          <a:bodyPr wrap="square" rtlCol="0">
            <a:spAutoFit/>
          </a:bodyPr>
          <a:lstStyle/>
          <a:p>
            <a:r>
              <a:rPr lang="en-IN" dirty="0">
                <a:hlinkClick r:id="rId4"/>
              </a:rPr>
              <a:t>https://www.geeksforgeeks.org/machine-learning/support-vector-machine-algorithm/</a:t>
            </a:r>
            <a:endParaRPr lang="en-IN" dirty="0"/>
          </a:p>
        </p:txBody>
      </p:sp>
    </p:spTree>
    <p:extLst>
      <p:ext uri="{BB962C8B-B14F-4D97-AF65-F5344CB8AC3E}">
        <p14:creationId xmlns:p14="http://schemas.microsoft.com/office/powerpoint/2010/main" val="504439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AB8902-AB1A-D4E2-E94A-D4217E712556}"/>
              </a:ext>
            </a:extLst>
          </p:cNvPr>
          <p:cNvSpPr txBox="1"/>
          <p:nvPr/>
        </p:nvSpPr>
        <p:spPr>
          <a:xfrm>
            <a:off x="3494532" y="411480"/>
            <a:ext cx="5202936" cy="461665"/>
          </a:xfrm>
          <a:prstGeom prst="rect">
            <a:avLst/>
          </a:prstGeom>
          <a:noFill/>
        </p:spPr>
        <p:txBody>
          <a:bodyPr wrap="square" rtlCol="0">
            <a:spAutoFit/>
          </a:bodyPr>
          <a:lstStyle/>
          <a:p>
            <a:r>
              <a:rPr lang="en-IN" sz="2400" u="sng" dirty="0">
                <a:latin typeface="Copperplate Gothic Bold" panose="020E0705020206020404" pitchFamily="34" charset="0"/>
              </a:rPr>
              <a:t>4. Random Forest Classifier</a:t>
            </a:r>
          </a:p>
        </p:txBody>
      </p:sp>
      <p:sp>
        <p:nvSpPr>
          <p:cNvPr id="5" name="TextBox 4">
            <a:extLst>
              <a:ext uri="{FF2B5EF4-FFF2-40B4-BE49-F238E27FC236}">
                <a16:creationId xmlns:a16="http://schemas.microsoft.com/office/drawing/2014/main" id="{83134D17-946F-4D1C-820C-2363675C3BB9}"/>
              </a:ext>
            </a:extLst>
          </p:cNvPr>
          <p:cNvSpPr txBox="1"/>
          <p:nvPr/>
        </p:nvSpPr>
        <p:spPr>
          <a:xfrm>
            <a:off x="667512" y="1271016"/>
            <a:ext cx="7086600" cy="646331"/>
          </a:xfrm>
          <a:prstGeom prst="rect">
            <a:avLst/>
          </a:prstGeom>
          <a:noFill/>
        </p:spPr>
        <p:txBody>
          <a:bodyPr wrap="square" rtlCol="0">
            <a:spAutoFit/>
          </a:bodyPr>
          <a:lstStyle/>
          <a:p>
            <a:r>
              <a:rPr lang="en-US" dirty="0">
                <a:latin typeface="Copperplate Gothic Light" panose="020E0507020206020404" pitchFamily="34" charset="0"/>
              </a:rPr>
              <a:t>An ensemble model that builds multiple decision trees and combines their predictions.</a:t>
            </a:r>
          </a:p>
        </p:txBody>
      </p:sp>
      <p:sp>
        <p:nvSpPr>
          <p:cNvPr id="8" name="Rectangle 2">
            <a:extLst>
              <a:ext uri="{FF2B5EF4-FFF2-40B4-BE49-F238E27FC236}">
                <a16:creationId xmlns:a16="http://schemas.microsoft.com/office/drawing/2014/main" id="{BA36E028-5480-926B-B1A2-8AEA8C4C6BD4}"/>
              </a:ext>
            </a:extLst>
          </p:cNvPr>
          <p:cNvSpPr>
            <a:spLocks noChangeArrowheads="1"/>
          </p:cNvSpPr>
          <p:nvPr/>
        </p:nvSpPr>
        <p:spPr bwMode="auto">
          <a:xfrm>
            <a:off x="594360" y="1928259"/>
            <a:ext cx="491032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Copperplate Gothic Light" panose="020E0507020206020404" pitchFamily="34" charset="0"/>
              </a:rPr>
              <a:t>Trains many decision trees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Copperplate Gothic Light" panose="020E0507020206020404" pitchFamily="34" charset="0"/>
              </a:rPr>
              <a:t>Each tree votes for a grade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Copperplate Gothic Light" panose="020E0507020206020404" pitchFamily="34" charset="0"/>
              </a:rPr>
              <a:t>Final grade decided by majority vote</a:t>
            </a:r>
          </a:p>
        </p:txBody>
      </p:sp>
      <p:pic>
        <p:nvPicPr>
          <p:cNvPr id="10" name="Picture 9" descr="A diagram of a diagram&#10;&#10;AI-generated content may be incorrect.">
            <a:extLst>
              <a:ext uri="{FF2B5EF4-FFF2-40B4-BE49-F238E27FC236}">
                <a16:creationId xmlns:a16="http://schemas.microsoft.com/office/drawing/2014/main" id="{8A72D77D-D0DC-FFE3-B668-4D30DCA686D8}"/>
              </a:ext>
            </a:extLst>
          </p:cNvPr>
          <p:cNvPicPr>
            <a:picLocks noChangeAspect="1"/>
          </p:cNvPicPr>
          <p:nvPr/>
        </p:nvPicPr>
        <p:blipFill>
          <a:blip r:embed="rId2"/>
          <a:stretch>
            <a:fillRect/>
          </a:stretch>
        </p:blipFill>
        <p:spPr>
          <a:xfrm>
            <a:off x="667512" y="3429000"/>
            <a:ext cx="5602698" cy="2876538"/>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090F3560-00D6-17E4-F150-CB30E6B0FBB9}"/>
              </a:ext>
            </a:extLst>
          </p:cNvPr>
          <p:cNvPicPr>
            <a:picLocks noChangeAspect="1"/>
          </p:cNvPicPr>
          <p:nvPr/>
        </p:nvPicPr>
        <p:blipFill>
          <a:blip r:embed="rId3"/>
          <a:stretch>
            <a:fillRect/>
          </a:stretch>
        </p:blipFill>
        <p:spPr>
          <a:xfrm>
            <a:off x="6623306" y="1917347"/>
            <a:ext cx="5328171" cy="1529678"/>
          </a:xfrm>
          <a:prstGeom prst="rect">
            <a:avLst/>
          </a:prstGeom>
        </p:spPr>
      </p:pic>
      <p:sp>
        <p:nvSpPr>
          <p:cNvPr id="13" name="TextBox 12">
            <a:extLst>
              <a:ext uri="{FF2B5EF4-FFF2-40B4-BE49-F238E27FC236}">
                <a16:creationId xmlns:a16="http://schemas.microsoft.com/office/drawing/2014/main" id="{C5F8DC92-F337-DFED-A7CA-6430EBF766DA}"/>
              </a:ext>
            </a:extLst>
          </p:cNvPr>
          <p:cNvSpPr txBox="1"/>
          <p:nvPr/>
        </p:nvSpPr>
        <p:spPr>
          <a:xfrm>
            <a:off x="7342632" y="5659207"/>
            <a:ext cx="4041648" cy="646331"/>
          </a:xfrm>
          <a:prstGeom prst="rect">
            <a:avLst/>
          </a:prstGeom>
          <a:noFill/>
        </p:spPr>
        <p:txBody>
          <a:bodyPr wrap="square" rtlCol="0">
            <a:spAutoFit/>
          </a:bodyPr>
          <a:lstStyle/>
          <a:p>
            <a:r>
              <a:rPr lang="en-IN" dirty="0">
                <a:hlinkClick r:id="rId4"/>
              </a:rPr>
              <a:t>https://www.geeksforgeeks.org/dsa/random-forest-classifier-using-scikit-learn/</a:t>
            </a:r>
            <a:endParaRPr lang="en-IN" dirty="0"/>
          </a:p>
        </p:txBody>
      </p:sp>
    </p:spTree>
    <p:extLst>
      <p:ext uri="{BB962C8B-B14F-4D97-AF65-F5344CB8AC3E}">
        <p14:creationId xmlns:p14="http://schemas.microsoft.com/office/powerpoint/2010/main" val="4219591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43FADA-905B-7F75-8B7C-D5AAB1DF3961}"/>
              </a:ext>
            </a:extLst>
          </p:cNvPr>
          <p:cNvSpPr txBox="1"/>
          <p:nvPr/>
        </p:nvSpPr>
        <p:spPr>
          <a:xfrm>
            <a:off x="3569154" y="411480"/>
            <a:ext cx="5053691" cy="461665"/>
          </a:xfrm>
          <a:prstGeom prst="rect">
            <a:avLst/>
          </a:prstGeom>
          <a:noFill/>
        </p:spPr>
        <p:txBody>
          <a:bodyPr wrap="none" rtlCol="0">
            <a:spAutoFit/>
          </a:bodyPr>
          <a:lstStyle/>
          <a:p>
            <a:r>
              <a:rPr lang="en-US" sz="2400" b="1" u="sng" dirty="0">
                <a:solidFill>
                  <a:schemeClr val="lt1"/>
                </a:solidFill>
                <a:latin typeface="Copperplate Gothic Bold" panose="020E0705020206020404" pitchFamily="34" charset="0"/>
                <a:ea typeface="Times New Roman"/>
                <a:cs typeface="Times New Roman"/>
                <a:sym typeface="Times New Roman"/>
              </a:rPr>
              <a:t>5. NAIVE BAYES CLASSIFIER</a:t>
            </a:r>
          </a:p>
        </p:txBody>
      </p:sp>
      <p:sp>
        <p:nvSpPr>
          <p:cNvPr id="5" name="TextBox 4">
            <a:extLst>
              <a:ext uri="{FF2B5EF4-FFF2-40B4-BE49-F238E27FC236}">
                <a16:creationId xmlns:a16="http://schemas.microsoft.com/office/drawing/2014/main" id="{4A8558B8-5725-CDED-FCE7-08CD5145AF3A}"/>
              </a:ext>
            </a:extLst>
          </p:cNvPr>
          <p:cNvSpPr txBox="1"/>
          <p:nvPr/>
        </p:nvSpPr>
        <p:spPr>
          <a:xfrm>
            <a:off x="722376" y="1042417"/>
            <a:ext cx="5824728" cy="2585323"/>
          </a:xfrm>
          <a:prstGeom prst="rect">
            <a:avLst/>
          </a:prstGeom>
          <a:noFill/>
        </p:spPr>
        <p:txBody>
          <a:bodyPr wrap="square" rtlCol="0">
            <a:spAutoFit/>
          </a:bodyPr>
          <a:lstStyle/>
          <a:p>
            <a:pPr lvl="0" algn="just"/>
            <a:r>
              <a:rPr lang="en-US" dirty="0">
                <a:solidFill>
                  <a:schemeClr val="lt1"/>
                </a:solidFill>
                <a:latin typeface="Copperplate Gothic Light" panose="020E0507020206020404" pitchFamily="34" charset="0"/>
                <a:ea typeface="Times New Roman"/>
                <a:cs typeface="Times New Roman"/>
                <a:sym typeface="Times New Roman"/>
              </a:rPr>
              <a:t>The “Naive” part of the name indicates the simplifying assumption made by the Naïve Bayes classifier. The classifier assumes that the features used to describe an observation are conditionally independent, given the class label. The “Bayes” part of the name refers to Reverend Thomas Bayes, an 18th-century statistician and theologian who formulated Bayes’ theorem.</a:t>
            </a:r>
            <a:endParaRPr lang="en-US" dirty="0">
              <a:latin typeface="Copperplate Gothic Light" panose="020E0507020206020404" pitchFamily="34" charset="0"/>
            </a:endParaRPr>
          </a:p>
        </p:txBody>
      </p:sp>
      <p:sp>
        <p:nvSpPr>
          <p:cNvPr id="6" name="TextBox 5">
            <a:extLst>
              <a:ext uri="{FF2B5EF4-FFF2-40B4-BE49-F238E27FC236}">
                <a16:creationId xmlns:a16="http://schemas.microsoft.com/office/drawing/2014/main" id="{B209212F-E4B2-615A-AC7F-25BF03303040}"/>
              </a:ext>
            </a:extLst>
          </p:cNvPr>
          <p:cNvSpPr txBox="1"/>
          <p:nvPr/>
        </p:nvSpPr>
        <p:spPr>
          <a:xfrm>
            <a:off x="608052" y="3701534"/>
            <a:ext cx="1075936" cy="369332"/>
          </a:xfrm>
          <a:prstGeom prst="rect">
            <a:avLst/>
          </a:prstGeom>
          <a:noFill/>
          <a:ln>
            <a:solidFill>
              <a:schemeClr val="tx1"/>
            </a:solidFill>
          </a:ln>
        </p:spPr>
        <p:txBody>
          <a:bodyPr wrap="none" rtlCol="0">
            <a:spAutoFit/>
          </a:bodyPr>
          <a:lstStyle/>
          <a:p>
            <a:r>
              <a:rPr lang="en-US" dirty="0">
                <a:solidFill>
                  <a:schemeClr val="lt1"/>
                </a:solidFill>
                <a:latin typeface="Times New Roman"/>
                <a:ea typeface="Times New Roman"/>
                <a:cs typeface="Times New Roman"/>
                <a:sym typeface="Times New Roman"/>
              </a:rPr>
              <a:t>Posterior </a:t>
            </a:r>
          </a:p>
        </p:txBody>
      </p:sp>
      <p:sp>
        <p:nvSpPr>
          <p:cNvPr id="7" name="TextBox 6">
            <a:extLst>
              <a:ext uri="{FF2B5EF4-FFF2-40B4-BE49-F238E27FC236}">
                <a16:creationId xmlns:a16="http://schemas.microsoft.com/office/drawing/2014/main" id="{D11F4A3D-78AC-A89D-5C77-BAC2FAE1CD53}"/>
              </a:ext>
            </a:extLst>
          </p:cNvPr>
          <p:cNvSpPr txBox="1"/>
          <p:nvPr/>
        </p:nvSpPr>
        <p:spPr>
          <a:xfrm>
            <a:off x="2490477" y="3701534"/>
            <a:ext cx="768159" cy="369332"/>
          </a:xfrm>
          <a:prstGeom prst="rect">
            <a:avLst/>
          </a:prstGeom>
          <a:noFill/>
          <a:ln>
            <a:solidFill>
              <a:schemeClr val="tx1"/>
            </a:solidFill>
          </a:ln>
        </p:spPr>
        <p:txBody>
          <a:bodyPr wrap="none" rtlCol="0">
            <a:spAutoFit/>
          </a:bodyPr>
          <a:lstStyle/>
          <a:p>
            <a:r>
              <a:rPr lang="en-US" dirty="0">
                <a:solidFill>
                  <a:schemeClr val="lt1"/>
                </a:solidFill>
                <a:latin typeface="Times New Roman"/>
                <a:ea typeface="Times New Roman"/>
                <a:cs typeface="Times New Roman"/>
                <a:sym typeface="Times New Roman"/>
              </a:rPr>
              <a:t>Priori </a:t>
            </a:r>
          </a:p>
        </p:txBody>
      </p:sp>
      <p:sp>
        <p:nvSpPr>
          <p:cNvPr id="8" name="TextBox 7">
            <a:extLst>
              <a:ext uri="{FF2B5EF4-FFF2-40B4-BE49-F238E27FC236}">
                <a16:creationId xmlns:a16="http://schemas.microsoft.com/office/drawing/2014/main" id="{CF81BEBE-8425-7518-0387-DBA6D1AD6836}"/>
              </a:ext>
            </a:extLst>
          </p:cNvPr>
          <p:cNvSpPr txBox="1"/>
          <p:nvPr/>
        </p:nvSpPr>
        <p:spPr>
          <a:xfrm>
            <a:off x="4192336" y="3701534"/>
            <a:ext cx="1255472" cy="369332"/>
          </a:xfrm>
          <a:prstGeom prst="rect">
            <a:avLst/>
          </a:prstGeom>
          <a:noFill/>
          <a:ln>
            <a:solidFill>
              <a:schemeClr val="tx1"/>
            </a:solidFill>
          </a:ln>
        </p:spPr>
        <p:txBody>
          <a:bodyPr wrap="none" rtlCol="0">
            <a:spAutoFit/>
          </a:bodyPr>
          <a:lstStyle/>
          <a:p>
            <a:r>
              <a:rPr lang="en-US" dirty="0">
                <a:solidFill>
                  <a:schemeClr val="lt1"/>
                </a:solidFill>
                <a:latin typeface="Times New Roman"/>
                <a:ea typeface="Times New Roman"/>
                <a:cs typeface="Times New Roman"/>
                <a:sym typeface="Times New Roman"/>
              </a:rPr>
              <a:t>Likelihood </a:t>
            </a:r>
          </a:p>
        </p:txBody>
      </p:sp>
      <p:sp>
        <p:nvSpPr>
          <p:cNvPr id="9" name="TextBox 8">
            <a:extLst>
              <a:ext uri="{FF2B5EF4-FFF2-40B4-BE49-F238E27FC236}">
                <a16:creationId xmlns:a16="http://schemas.microsoft.com/office/drawing/2014/main" id="{1AB75D9D-4DED-330D-7002-FD92314D43FB}"/>
              </a:ext>
            </a:extLst>
          </p:cNvPr>
          <p:cNvSpPr txBox="1"/>
          <p:nvPr/>
        </p:nvSpPr>
        <p:spPr>
          <a:xfrm>
            <a:off x="4306630" y="5746004"/>
            <a:ext cx="1026884" cy="369332"/>
          </a:xfrm>
          <a:prstGeom prst="rect">
            <a:avLst/>
          </a:prstGeom>
          <a:noFill/>
          <a:ln>
            <a:solidFill>
              <a:schemeClr val="tx1"/>
            </a:solidFill>
          </a:ln>
        </p:spPr>
        <p:txBody>
          <a:bodyPr wrap="none" rtlCol="0">
            <a:spAutoFit/>
          </a:bodyPr>
          <a:lstStyle/>
          <a:p>
            <a:r>
              <a:rPr lang="en-US" dirty="0">
                <a:solidFill>
                  <a:schemeClr val="lt1"/>
                </a:solidFill>
                <a:latin typeface="Times New Roman"/>
                <a:ea typeface="Times New Roman"/>
                <a:cs typeface="Times New Roman"/>
                <a:sym typeface="Times New Roman"/>
              </a:rPr>
              <a:t>Marginal</a:t>
            </a:r>
          </a:p>
        </p:txBody>
      </p:sp>
      <p:sp>
        <p:nvSpPr>
          <p:cNvPr id="10" name="TextBox 9">
            <a:extLst>
              <a:ext uri="{FF2B5EF4-FFF2-40B4-BE49-F238E27FC236}">
                <a16:creationId xmlns:a16="http://schemas.microsoft.com/office/drawing/2014/main" id="{49AEDA22-BAE1-045F-362D-07C7DB692132}"/>
              </a:ext>
            </a:extLst>
          </p:cNvPr>
          <p:cNvSpPr txBox="1"/>
          <p:nvPr/>
        </p:nvSpPr>
        <p:spPr>
          <a:xfrm>
            <a:off x="1146020" y="4422565"/>
            <a:ext cx="3076483" cy="954107"/>
          </a:xfrm>
          <a:prstGeom prst="rect">
            <a:avLst/>
          </a:prstGeom>
          <a:noFill/>
          <a:ln>
            <a:solidFill>
              <a:schemeClr val="tx1"/>
            </a:solidFill>
          </a:ln>
        </p:spPr>
        <p:txBody>
          <a:bodyPr wrap="none" rtlCol="0">
            <a:spAutoFit/>
          </a:bodyPr>
          <a:lstStyle/>
          <a:p>
            <a:pPr lvl="0"/>
            <a:r>
              <a:rPr lang="en-US" sz="2800" i="1" dirty="0">
                <a:solidFill>
                  <a:schemeClr val="lt1"/>
                </a:solidFill>
                <a:latin typeface="Times New Roman"/>
                <a:ea typeface="Times New Roman"/>
                <a:cs typeface="Times New Roman"/>
                <a:sym typeface="Times New Roman"/>
              </a:rPr>
              <a:t>P</a:t>
            </a:r>
            <a:r>
              <a:rPr lang="en-US" sz="2800" dirty="0">
                <a:solidFill>
                  <a:schemeClr val="lt1"/>
                </a:solidFill>
                <a:latin typeface="Times New Roman"/>
                <a:ea typeface="Times New Roman"/>
                <a:cs typeface="Times New Roman"/>
                <a:sym typeface="Times New Roman"/>
              </a:rPr>
              <a:t>(</a:t>
            </a:r>
            <a:r>
              <a:rPr lang="en-US" sz="2800" i="1" dirty="0">
                <a:solidFill>
                  <a:schemeClr val="lt1"/>
                </a:solidFill>
                <a:latin typeface="Times New Roman"/>
                <a:ea typeface="Times New Roman"/>
                <a:cs typeface="Times New Roman"/>
                <a:sym typeface="Times New Roman"/>
              </a:rPr>
              <a:t>A</a:t>
            </a:r>
            <a:r>
              <a:rPr lang="en-US" sz="2800" dirty="0">
                <a:solidFill>
                  <a:schemeClr val="lt1"/>
                </a:solidFill>
                <a:latin typeface="Times New Roman"/>
                <a:ea typeface="Times New Roman"/>
                <a:cs typeface="Times New Roman"/>
                <a:sym typeface="Times New Roman"/>
              </a:rPr>
              <a:t>∣</a:t>
            </a:r>
            <a:r>
              <a:rPr lang="en-US" sz="2800" i="1" dirty="0">
                <a:solidFill>
                  <a:schemeClr val="lt1"/>
                </a:solidFill>
                <a:latin typeface="Times New Roman"/>
                <a:ea typeface="Times New Roman"/>
                <a:cs typeface="Times New Roman"/>
                <a:sym typeface="Times New Roman"/>
              </a:rPr>
              <a:t>B</a:t>
            </a:r>
            <a:r>
              <a:rPr lang="en-US" sz="2800" dirty="0">
                <a:solidFill>
                  <a:schemeClr val="lt1"/>
                </a:solidFill>
                <a:latin typeface="Times New Roman"/>
                <a:ea typeface="Times New Roman"/>
                <a:cs typeface="Times New Roman"/>
                <a:sym typeface="Times New Roman"/>
              </a:rPr>
              <a:t>)=</a:t>
            </a:r>
            <a:r>
              <a:rPr lang="en-US" sz="2800" i="1" dirty="0">
                <a:solidFill>
                  <a:schemeClr val="lt1"/>
                </a:solidFill>
                <a:latin typeface="Times New Roman"/>
                <a:ea typeface="Times New Roman"/>
                <a:cs typeface="Times New Roman"/>
                <a:sym typeface="Times New Roman"/>
              </a:rPr>
              <a:t>P</a:t>
            </a:r>
            <a:r>
              <a:rPr lang="en-US" sz="2800" dirty="0">
                <a:solidFill>
                  <a:schemeClr val="lt1"/>
                </a:solidFill>
                <a:latin typeface="Times New Roman"/>
                <a:ea typeface="Times New Roman"/>
                <a:cs typeface="Times New Roman"/>
                <a:sym typeface="Times New Roman"/>
              </a:rPr>
              <a:t>(</a:t>
            </a:r>
            <a:r>
              <a:rPr lang="en-US" sz="2800" i="1" dirty="0">
                <a:solidFill>
                  <a:schemeClr val="lt1"/>
                </a:solidFill>
                <a:latin typeface="Times New Roman"/>
                <a:ea typeface="Times New Roman"/>
                <a:cs typeface="Times New Roman"/>
                <a:sym typeface="Times New Roman"/>
              </a:rPr>
              <a:t>A</a:t>
            </a:r>
            <a:r>
              <a:rPr lang="en-US" sz="2800" dirty="0">
                <a:solidFill>
                  <a:schemeClr val="lt1"/>
                </a:solidFill>
                <a:latin typeface="Times New Roman"/>
                <a:ea typeface="Times New Roman"/>
                <a:cs typeface="Times New Roman"/>
                <a:sym typeface="Times New Roman"/>
              </a:rPr>
              <a:t>)</a:t>
            </a:r>
            <a:r>
              <a:rPr lang="en-US" sz="2800" i="1" dirty="0">
                <a:solidFill>
                  <a:schemeClr val="lt1"/>
                </a:solidFill>
                <a:latin typeface="Times New Roman"/>
                <a:ea typeface="Times New Roman"/>
                <a:cs typeface="Times New Roman"/>
                <a:sym typeface="Times New Roman"/>
              </a:rPr>
              <a:t>P</a:t>
            </a:r>
            <a:r>
              <a:rPr lang="en-US" sz="2800" dirty="0">
                <a:solidFill>
                  <a:schemeClr val="lt1"/>
                </a:solidFill>
                <a:latin typeface="Times New Roman"/>
                <a:ea typeface="Times New Roman"/>
                <a:cs typeface="Times New Roman"/>
                <a:sym typeface="Times New Roman"/>
              </a:rPr>
              <a:t>(</a:t>
            </a:r>
            <a:r>
              <a:rPr lang="en-US" sz="2800" i="1" dirty="0">
                <a:solidFill>
                  <a:schemeClr val="lt1"/>
                </a:solidFill>
                <a:latin typeface="Times New Roman"/>
                <a:ea typeface="Times New Roman"/>
                <a:cs typeface="Times New Roman"/>
                <a:sym typeface="Times New Roman"/>
              </a:rPr>
              <a:t>B</a:t>
            </a:r>
            <a:r>
              <a:rPr lang="en-US" sz="2800" dirty="0">
                <a:solidFill>
                  <a:schemeClr val="lt1"/>
                </a:solidFill>
                <a:latin typeface="Times New Roman"/>
                <a:ea typeface="Times New Roman"/>
                <a:cs typeface="Times New Roman"/>
                <a:sym typeface="Times New Roman"/>
              </a:rPr>
              <a:t>∣</a:t>
            </a:r>
            <a:r>
              <a:rPr lang="en-US" sz="2800" i="1" dirty="0">
                <a:solidFill>
                  <a:schemeClr val="lt1"/>
                </a:solidFill>
                <a:latin typeface="Times New Roman"/>
                <a:ea typeface="Times New Roman"/>
                <a:cs typeface="Times New Roman"/>
                <a:sym typeface="Times New Roman"/>
              </a:rPr>
              <a:t>A</a:t>
            </a:r>
            <a:r>
              <a:rPr lang="en-US" sz="2800" dirty="0">
                <a:solidFill>
                  <a:schemeClr val="lt1"/>
                </a:solidFill>
                <a:latin typeface="Times New Roman"/>
                <a:ea typeface="Times New Roman"/>
                <a:cs typeface="Times New Roman"/>
                <a:sym typeface="Times New Roman"/>
              </a:rPr>
              <a:t>)</a:t>
            </a:r>
            <a:endParaRPr lang="en-US" sz="2800" dirty="0"/>
          </a:p>
          <a:p>
            <a:pPr lvl="0"/>
            <a:r>
              <a:rPr lang="en-US" sz="2800" dirty="0">
                <a:solidFill>
                  <a:schemeClr val="lt1"/>
                </a:solidFill>
                <a:latin typeface="Times New Roman"/>
                <a:ea typeface="Times New Roman"/>
                <a:cs typeface="Times New Roman"/>
                <a:sym typeface="Times New Roman"/>
              </a:rPr>
              <a:t>             ​    P(B)</a:t>
            </a:r>
          </a:p>
        </p:txBody>
      </p:sp>
      <p:cxnSp>
        <p:nvCxnSpPr>
          <p:cNvPr id="12" name="Straight Connector 11">
            <a:extLst>
              <a:ext uri="{FF2B5EF4-FFF2-40B4-BE49-F238E27FC236}">
                <a16:creationId xmlns:a16="http://schemas.microsoft.com/office/drawing/2014/main" id="{DC12BD6E-E4D0-0CCC-5625-EF54E7387D75}"/>
              </a:ext>
            </a:extLst>
          </p:cNvPr>
          <p:cNvCxnSpPr/>
          <p:nvPr/>
        </p:nvCxnSpPr>
        <p:spPr>
          <a:xfrm>
            <a:off x="2490477" y="4899618"/>
            <a:ext cx="1505451"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14" name="Connector: Elbow 13">
            <a:extLst>
              <a:ext uri="{FF2B5EF4-FFF2-40B4-BE49-F238E27FC236}">
                <a16:creationId xmlns:a16="http://schemas.microsoft.com/office/drawing/2014/main" id="{1524D3E3-14BD-A85A-6070-74183255669B}"/>
              </a:ext>
            </a:extLst>
          </p:cNvPr>
          <p:cNvCxnSpPr>
            <a:endCxn id="6" idx="3"/>
          </p:cNvCxnSpPr>
          <p:nvPr/>
        </p:nvCxnSpPr>
        <p:spPr>
          <a:xfrm rot="16200000" flipV="1">
            <a:off x="1520216" y="4049973"/>
            <a:ext cx="536365" cy="20882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F8650E2E-4444-BAE5-3771-B3C58CE7B72F}"/>
              </a:ext>
            </a:extLst>
          </p:cNvPr>
          <p:cNvCxnSpPr>
            <a:endCxn id="7" idx="2"/>
          </p:cNvCxnSpPr>
          <p:nvPr/>
        </p:nvCxnSpPr>
        <p:spPr>
          <a:xfrm rot="5400000" flipH="1" flipV="1">
            <a:off x="2698706" y="4246716"/>
            <a:ext cx="351700" cy="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3E79714-BF8F-8AFC-5CC4-ACA4E91379A1}"/>
              </a:ext>
            </a:extLst>
          </p:cNvPr>
          <p:cNvCxnSpPr>
            <a:endCxn id="8" idx="1"/>
          </p:cNvCxnSpPr>
          <p:nvPr/>
        </p:nvCxnSpPr>
        <p:spPr>
          <a:xfrm rot="5400000" flipH="1" flipV="1">
            <a:off x="3752797" y="3983028"/>
            <a:ext cx="536367" cy="34271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D269839A-EE03-8D39-E1E9-0D8CD5FCE402}"/>
              </a:ext>
            </a:extLst>
          </p:cNvPr>
          <p:cNvCxnSpPr>
            <a:endCxn id="9" idx="0"/>
          </p:cNvCxnSpPr>
          <p:nvPr/>
        </p:nvCxnSpPr>
        <p:spPr>
          <a:xfrm rot="16200000" flipH="1">
            <a:off x="4204033" y="5129965"/>
            <a:ext cx="634508" cy="597569"/>
          </a:xfrm>
          <a:prstGeom prst="bentConnector3">
            <a:avLst>
              <a:gd name="adj1" fmla="val -2493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descr="A screen shot of a computer code&#10;&#10;AI-generated content may be incorrect.">
            <a:extLst>
              <a:ext uri="{FF2B5EF4-FFF2-40B4-BE49-F238E27FC236}">
                <a16:creationId xmlns:a16="http://schemas.microsoft.com/office/drawing/2014/main" id="{6DD1A59F-5119-591A-24D8-BA7DC297800D}"/>
              </a:ext>
            </a:extLst>
          </p:cNvPr>
          <p:cNvPicPr>
            <a:picLocks noChangeAspect="1"/>
          </p:cNvPicPr>
          <p:nvPr/>
        </p:nvPicPr>
        <p:blipFill>
          <a:blip r:embed="rId2"/>
          <a:stretch>
            <a:fillRect/>
          </a:stretch>
        </p:blipFill>
        <p:spPr>
          <a:xfrm>
            <a:off x="6521234" y="3605200"/>
            <a:ext cx="4824263" cy="1895740"/>
          </a:xfrm>
          <a:prstGeom prst="rect">
            <a:avLst/>
          </a:prstGeom>
        </p:spPr>
      </p:pic>
      <p:pic>
        <p:nvPicPr>
          <p:cNvPr id="25" name="Picture 24" descr="A diagram of a gaussian distribution&#10;&#10;AI-generated content may be incorrect.">
            <a:extLst>
              <a:ext uri="{FF2B5EF4-FFF2-40B4-BE49-F238E27FC236}">
                <a16:creationId xmlns:a16="http://schemas.microsoft.com/office/drawing/2014/main" id="{223D5D8A-16F1-655E-78FA-5CB6214EE09E}"/>
              </a:ext>
            </a:extLst>
          </p:cNvPr>
          <p:cNvPicPr>
            <a:picLocks noChangeAspect="1"/>
          </p:cNvPicPr>
          <p:nvPr/>
        </p:nvPicPr>
        <p:blipFill>
          <a:blip r:embed="rId3"/>
          <a:stretch>
            <a:fillRect/>
          </a:stretch>
        </p:blipFill>
        <p:spPr>
          <a:xfrm>
            <a:off x="6877431" y="982895"/>
            <a:ext cx="4967099" cy="2453033"/>
          </a:xfrm>
          <a:prstGeom prst="rect">
            <a:avLst/>
          </a:prstGeom>
        </p:spPr>
      </p:pic>
      <p:sp>
        <p:nvSpPr>
          <p:cNvPr id="26" name="TextBox 25">
            <a:extLst>
              <a:ext uri="{FF2B5EF4-FFF2-40B4-BE49-F238E27FC236}">
                <a16:creationId xmlns:a16="http://schemas.microsoft.com/office/drawing/2014/main" id="{D0DEEB75-47E7-A55C-C12E-CE72CAACB052}"/>
              </a:ext>
            </a:extLst>
          </p:cNvPr>
          <p:cNvSpPr txBox="1"/>
          <p:nvPr/>
        </p:nvSpPr>
        <p:spPr>
          <a:xfrm>
            <a:off x="7126226" y="6115336"/>
            <a:ext cx="4718304" cy="646331"/>
          </a:xfrm>
          <a:prstGeom prst="rect">
            <a:avLst/>
          </a:prstGeom>
          <a:noFill/>
        </p:spPr>
        <p:txBody>
          <a:bodyPr wrap="square" rtlCol="0">
            <a:spAutoFit/>
          </a:bodyPr>
          <a:lstStyle/>
          <a:p>
            <a:r>
              <a:rPr lang="en-IN" dirty="0">
                <a:hlinkClick r:id="rId4"/>
              </a:rPr>
              <a:t>https://www.geeksforgeeks.org/machine-learning/naive-bayes-classifiers/</a:t>
            </a:r>
            <a:endParaRPr lang="en-IN" dirty="0"/>
          </a:p>
        </p:txBody>
      </p:sp>
    </p:spTree>
    <p:extLst>
      <p:ext uri="{BB962C8B-B14F-4D97-AF65-F5344CB8AC3E}">
        <p14:creationId xmlns:p14="http://schemas.microsoft.com/office/powerpoint/2010/main" val="700699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B52BF2-7777-A04E-F469-0658639361D3}"/>
              </a:ext>
            </a:extLst>
          </p:cNvPr>
          <p:cNvSpPr txBox="1"/>
          <p:nvPr/>
        </p:nvSpPr>
        <p:spPr>
          <a:xfrm>
            <a:off x="3402314" y="58430"/>
            <a:ext cx="5387372" cy="523220"/>
          </a:xfrm>
          <a:prstGeom prst="rect">
            <a:avLst/>
          </a:prstGeom>
          <a:noFill/>
        </p:spPr>
        <p:txBody>
          <a:bodyPr wrap="none" rtlCol="0">
            <a:spAutoFit/>
          </a:bodyPr>
          <a:lstStyle/>
          <a:p>
            <a:r>
              <a:rPr lang="en-US" sz="2800" u="sng" dirty="0">
                <a:latin typeface="Copperplate Gothic Bold" panose="020E0705020206020404" pitchFamily="34" charset="0"/>
              </a:rPr>
              <a:t>PREDICTION AND RESULT</a:t>
            </a:r>
            <a:endParaRPr lang="en-IN" sz="2800" u="sng" dirty="0">
              <a:latin typeface="Copperplate Gothic Bold" panose="020E0705020206020404" pitchFamily="34" charset="0"/>
            </a:endParaRPr>
          </a:p>
        </p:txBody>
      </p:sp>
      <p:pic>
        <p:nvPicPr>
          <p:cNvPr id="6" name="Picture 5" descr="A graph with different colored bars&#10;&#10;AI-generated content may be incorrect.">
            <a:extLst>
              <a:ext uri="{FF2B5EF4-FFF2-40B4-BE49-F238E27FC236}">
                <a16:creationId xmlns:a16="http://schemas.microsoft.com/office/drawing/2014/main" id="{C0B88A34-6BEC-5BAE-74A9-1C472C154C3F}"/>
              </a:ext>
            </a:extLst>
          </p:cNvPr>
          <p:cNvPicPr>
            <a:picLocks noChangeAspect="1"/>
          </p:cNvPicPr>
          <p:nvPr/>
        </p:nvPicPr>
        <p:blipFill>
          <a:blip r:embed="rId2"/>
          <a:stretch>
            <a:fillRect/>
          </a:stretch>
        </p:blipFill>
        <p:spPr>
          <a:xfrm>
            <a:off x="417567" y="2333727"/>
            <a:ext cx="5141985" cy="3346709"/>
          </a:xfrm>
          <a:prstGeom prst="rect">
            <a:avLst/>
          </a:prstGeom>
        </p:spPr>
      </p:pic>
      <p:sp>
        <p:nvSpPr>
          <p:cNvPr id="7" name="TextBox 6">
            <a:extLst>
              <a:ext uri="{FF2B5EF4-FFF2-40B4-BE49-F238E27FC236}">
                <a16:creationId xmlns:a16="http://schemas.microsoft.com/office/drawing/2014/main" id="{BC589082-4A2C-CE3C-C6ED-3AEDDBD8D6A9}"/>
              </a:ext>
            </a:extLst>
          </p:cNvPr>
          <p:cNvSpPr txBox="1"/>
          <p:nvPr/>
        </p:nvSpPr>
        <p:spPr>
          <a:xfrm>
            <a:off x="268380" y="1576340"/>
            <a:ext cx="5387372" cy="646331"/>
          </a:xfrm>
          <a:prstGeom prst="rect">
            <a:avLst/>
          </a:prstGeom>
          <a:noFill/>
        </p:spPr>
        <p:txBody>
          <a:bodyPr wrap="square" rtlCol="0">
            <a:spAutoFit/>
          </a:bodyPr>
          <a:lstStyle/>
          <a:p>
            <a:pPr algn="ctr"/>
            <a:r>
              <a:rPr lang="en-US" dirty="0">
                <a:latin typeface="Copperplate Gothic Light" panose="020E0507020206020404" pitchFamily="34" charset="0"/>
              </a:rPr>
              <a:t>MODEL PERFORMANCE(ACCURACY) COMPARISON:</a:t>
            </a:r>
            <a:endParaRPr lang="en-IN" dirty="0">
              <a:latin typeface="Copperplate Gothic Light" panose="020E0507020206020404" pitchFamily="34" charset="0"/>
            </a:endParaRPr>
          </a:p>
        </p:txBody>
      </p:sp>
      <p:pic>
        <p:nvPicPr>
          <p:cNvPr id="9" name="Picture 8" descr="A screenshot of a graph&#10;&#10;AI-generated content may be incorrect.">
            <a:extLst>
              <a:ext uri="{FF2B5EF4-FFF2-40B4-BE49-F238E27FC236}">
                <a16:creationId xmlns:a16="http://schemas.microsoft.com/office/drawing/2014/main" id="{9F55C4AE-C196-4FB3-DD89-A2822B7D9C18}"/>
              </a:ext>
            </a:extLst>
          </p:cNvPr>
          <p:cNvPicPr>
            <a:picLocks noChangeAspect="1"/>
          </p:cNvPicPr>
          <p:nvPr/>
        </p:nvPicPr>
        <p:blipFill>
          <a:blip r:embed="rId3"/>
          <a:stretch>
            <a:fillRect/>
          </a:stretch>
        </p:blipFill>
        <p:spPr>
          <a:xfrm>
            <a:off x="6163056" y="2841221"/>
            <a:ext cx="5431535" cy="3794760"/>
          </a:xfrm>
          <a:prstGeom prst="rect">
            <a:avLst/>
          </a:prstGeom>
        </p:spPr>
      </p:pic>
      <p:sp>
        <p:nvSpPr>
          <p:cNvPr id="10" name="TextBox 9">
            <a:extLst>
              <a:ext uri="{FF2B5EF4-FFF2-40B4-BE49-F238E27FC236}">
                <a16:creationId xmlns:a16="http://schemas.microsoft.com/office/drawing/2014/main" id="{4E65A3DD-F4AE-418D-5D29-69A956FBF2F8}"/>
              </a:ext>
            </a:extLst>
          </p:cNvPr>
          <p:cNvSpPr txBox="1"/>
          <p:nvPr/>
        </p:nvSpPr>
        <p:spPr>
          <a:xfrm>
            <a:off x="5806440" y="930009"/>
            <a:ext cx="6117179" cy="923330"/>
          </a:xfrm>
          <a:prstGeom prst="rect">
            <a:avLst/>
          </a:prstGeom>
          <a:noFill/>
        </p:spPr>
        <p:txBody>
          <a:bodyPr wrap="square" rtlCol="0">
            <a:spAutoFit/>
          </a:bodyPr>
          <a:lstStyle/>
          <a:p>
            <a:r>
              <a:rPr lang="en-US" dirty="0">
                <a:latin typeface="Copperplate Gothic Light" panose="020E0507020206020404" pitchFamily="34" charset="0"/>
              </a:rPr>
              <a:t>BY ANALYSING THE COMPARISON BEST MODEL </a:t>
            </a:r>
          </a:p>
          <a:p>
            <a:r>
              <a:rPr lang="en-US" dirty="0">
                <a:latin typeface="Copperplate Gothic Light" panose="020E0507020206020404" pitchFamily="34" charset="0"/>
              </a:rPr>
              <a:t>FOR STUDENT PERFORMANCE IS LOGISTIC REGRESSION</a:t>
            </a:r>
            <a:endParaRPr lang="en-IN" dirty="0">
              <a:latin typeface="Copperplate Gothic Light" panose="020E0507020206020404" pitchFamily="34" charset="0"/>
            </a:endParaRPr>
          </a:p>
        </p:txBody>
      </p:sp>
      <p:sp>
        <p:nvSpPr>
          <p:cNvPr id="11" name="TextBox 10">
            <a:extLst>
              <a:ext uri="{FF2B5EF4-FFF2-40B4-BE49-F238E27FC236}">
                <a16:creationId xmlns:a16="http://schemas.microsoft.com/office/drawing/2014/main" id="{7FD5F288-16E5-6BDE-CD5E-D8980326532D}"/>
              </a:ext>
            </a:extLst>
          </p:cNvPr>
          <p:cNvSpPr txBox="1"/>
          <p:nvPr/>
        </p:nvSpPr>
        <p:spPr>
          <a:xfrm>
            <a:off x="5863370" y="2224678"/>
            <a:ext cx="6060249" cy="369332"/>
          </a:xfrm>
          <a:prstGeom prst="rect">
            <a:avLst/>
          </a:prstGeom>
          <a:noFill/>
        </p:spPr>
        <p:txBody>
          <a:bodyPr wrap="none" rtlCol="0">
            <a:spAutoFit/>
          </a:bodyPr>
          <a:lstStyle/>
          <a:p>
            <a:r>
              <a:rPr lang="en-US" dirty="0">
                <a:latin typeface="Copperplate Gothic Light" panose="020E0507020206020404" pitchFamily="34" charset="0"/>
              </a:rPr>
              <a:t>LOGISTIC REGRESSION CONFUSION METRICS:</a:t>
            </a:r>
            <a:endParaRPr lang="en-IN" dirty="0">
              <a:latin typeface="Copperplate Gothic Light" panose="020E0507020206020404" pitchFamily="34" charset="0"/>
            </a:endParaRPr>
          </a:p>
        </p:txBody>
      </p:sp>
    </p:spTree>
    <p:extLst>
      <p:ext uri="{BB962C8B-B14F-4D97-AF65-F5344CB8AC3E}">
        <p14:creationId xmlns:p14="http://schemas.microsoft.com/office/powerpoint/2010/main" val="3483168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289A67-E4BB-3347-044F-2272C0845649}"/>
              </a:ext>
            </a:extLst>
          </p:cNvPr>
          <p:cNvSpPr txBox="1"/>
          <p:nvPr/>
        </p:nvSpPr>
        <p:spPr>
          <a:xfrm>
            <a:off x="4429133" y="201168"/>
            <a:ext cx="3333733" cy="584775"/>
          </a:xfrm>
          <a:prstGeom prst="rect">
            <a:avLst/>
          </a:prstGeom>
          <a:noFill/>
        </p:spPr>
        <p:txBody>
          <a:bodyPr wrap="none" rtlCol="0">
            <a:spAutoFit/>
          </a:bodyPr>
          <a:lstStyle/>
          <a:p>
            <a:r>
              <a:rPr lang="en-US" sz="3200" u="sng" dirty="0">
                <a:latin typeface="Copperplate Gothic Bold" panose="020E0705020206020404" pitchFamily="34" charset="0"/>
              </a:rPr>
              <a:t>CONCLUSION</a:t>
            </a:r>
            <a:endParaRPr lang="en-IN" sz="3200" u="sng" dirty="0">
              <a:latin typeface="Copperplate Gothic Bold" panose="020E0705020206020404" pitchFamily="34" charset="0"/>
            </a:endParaRPr>
          </a:p>
        </p:txBody>
      </p:sp>
      <p:sp>
        <p:nvSpPr>
          <p:cNvPr id="5" name="TextBox 4">
            <a:extLst>
              <a:ext uri="{FF2B5EF4-FFF2-40B4-BE49-F238E27FC236}">
                <a16:creationId xmlns:a16="http://schemas.microsoft.com/office/drawing/2014/main" id="{FDAC7754-31DF-2844-9D94-ADB5E5F57C51}"/>
              </a:ext>
            </a:extLst>
          </p:cNvPr>
          <p:cNvSpPr txBox="1"/>
          <p:nvPr/>
        </p:nvSpPr>
        <p:spPr>
          <a:xfrm>
            <a:off x="346337" y="886968"/>
            <a:ext cx="6191623" cy="5632311"/>
          </a:xfrm>
          <a:prstGeom prst="rect">
            <a:avLst/>
          </a:prstGeom>
          <a:noFill/>
        </p:spPr>
        <p:txBody>
          <a:bodyPr wrap="square" rtlCol="0">
            <a:spAutoFit/>
          </a:bodyPr>
          <a:lstStyle/>
          <a:p>
            <a:r>
              <a:rPr lang="en-US" dirty="0">
                <a:latin typeface="Copperplate Gothic Light" panose="020E0507020206020404" pitchFamily="34" charset="0"/>
              </a:rPr>
              <a:t>The comparison of five machine learning models clearly shows that </a:t>
            </a:r>
            <a:r>
              <a:rPr lang="en-US" b="1" dirty="0">
                <a:latin typeface="Copperplate Gothic Light" panose="020E0507020206020404" pitchFamily="34" charset="0"/>
              </a:rPr>
              <a:t>Logistic Regression performs the best</a:t>
            </a:r>
            <a:r>
              <a:rPr lang="en-US" dirty="0">
                <a:latin typeface="Copperplate Gothic Light" panose="020E0507020206020404" pitchFamily="34" charset="0"/>
              </a:rPr>
              <a:t> for predicting student performance in this dataset, achieving an accuracy of </a:t>
            </a:r>
            <a:r>
              <a:rPr lang="en-US" b="1" dirty="0">
                <a:latin typeface="Copperplate Gothic Light" panose="020E0507020206020404" pitchFamily="34" charset="0"/>
              </a:rPr>
              <a:t>94.66%</a:t>
            </a:r>
            <a:r>
              <a:rPr lang="en-US" dirty="0">
                <a:latin typeface="Copperplate Gothic Light" panose="020E0507020206020404" pitchFamily="34" charset="0"/>
              </a:rPr>
              <a:t>, which is significantly higher than all other models.</a:t>
            </a:r>
          </a:p>
          <a:p>
            <a:pPr marL="285750" indent="-285750">
              <a:buFont typeface="Wingdings" panose="05000000000000000000" pitchFamily="2" charset="2"/>
              <a:buChar char="q"/>
            </a:pPr>
            <a:r>
              <a:rPr lang="en-US" b="1" dirty="0">
                <a:latin typeface="Copperplate Gothic Light" panose="020E0507020206020404" pitchFamily="34" charset="0"/>
              </a:rPr>
              <a:t>SVM (RBF)</a:t>
            </a:r>
            <a:r>
              <a:rPr lang="en-US" dirty="0">
                <a:latin typeface="Copperplate Gothic Light" panose="020E0507020206020404" pitchFamily="34" charset="0"/>
              </a:rPr>
              <a:t> also performed well (91.33%), indicating that nonlinear relationships exist in the data, but its performance was still slightly lower than Logistic Regression.</a:t>
            </a:r>
          </a:p>
          <a:p>
            <a:pPr marL="285750" indent="-285750">
              <a:buFont typeface="Wingdings" panose="05000000000000000000" pitchFamily="2" charset="2"/>
              <a:buChar char="q"/>
            </a:pPr>
            <a:r>
              <a:rPr lang="en-US" b="1" dirty="0">
                <a:latin typeface="Copperplate Gothic Light" panose="020E0507020206020404" pitchFamily="34" charset="0"/>
              </a:rPr>
              <a:t>Random Forest</a:t>
            </a:r>
            <a:r>
              <a:rPr lang="en-US" dirty="0">
                <a:latin typeface="Copperplate Gothic Light" panose="020E0507020206020404" pitchFamily="34" charset="0"/>
              </a:rPr>
              <a:t> (80.26%) and </a:t>
            </a:r>
            <a:r>
              <a:rPr lang="en-US" b="1" dirty="0">
                <a:latin typeface="Copperplate Gothic Light" panose="020E0507020206020404" pitchFamily="34" charset="0"/>
              </a:rPr>
              <a:t>Naive Bayes</a:t>
            </a:r>
            <a:r>
              <a:rPr lang="en-US" dirty="0">
                <a:latin typeface="Copperplate Gothic Light" panose="020E0507020206020404" pitchFamily="34" charset="0"/>
              </a:rPr>
              <a:t> (79.53%) showed moderate performance, suggesting they struggled with the high-dimensional encoded features or class distribution.</a:t>
            </a:r>
          </a:p>
          <a:p>
            <a:pPr marL="285750" indent="-285750">
              <a:buFont typeface="Wingdings" panose="05000000000000000000" pitchFamily="2" charset="2"/>
              <a:buChar char="q"/>
            </a:pPr>
            <a:r>
              <a:rPr lang="en-US" b="1" dirty="0">
                <a:latin typeface="Copperplate Gothic Light" panose="020E0507020206020404" pitchFamily="34" charset="0"/>
              </a:rPr>
              <a:t>KNN</a:t>
            </a:r>
            <a:r>
              <a:rPr lang="en-US" dirty="0">
                <a:latin typeface="Copperplate Gothic Light" panose="020E0507020206020404" pitchFamily="34" charset="0"/>
              </a:rPr>
              <a:t>, even after tuning, achieved the lowest accuracy (71.2%), showing that distance-based methods are not ideal when feature scaling, dimensionality, and class separation are complex.</a:t>
            </a:r>
          </a:p>
        </p:txBody>
      </p:sp>
      <p:pic>
        <p:nvPicPr>
          <p:cNvPr id="7" name="Picture 6" descr="A black screen with white text&#10;&#10;AI-generated content may be incorrect.">
            <a:extLst>
              <a:ext uri="{FF2B5EF4-FFF2-40B4-BE49-F238E27FC236}">
                <a16:creationId xmlns:a16="http://schemas.microsoft.com/office/drawing/2014/main" id="{30E22D6F-5190-CF4E-18ED-B4AD3DD5AE9C}"/>
              </a:ext>
            </a:extLst>
          </p:cNvPr>
          <p:cNvPicPr>
            <a:picLocks noChangeAspect="1"/>
          </p:cNvPicPr>
          <p:nvPr/>
        </p:nvPicPr>
        <p:blipFill>
          <a:blip r:embed="rId2"/>
          <a:stretch>
            <a:fillRect/>
          </a:stretch>
        </p:blipFill>
        <p:spPr>
          <a:xfrm>
            <a:off x="6848856" y="2262024"/>
            <a:ext cx="4782312" cy="3617568"/>
          </a:xfrm>
          <a:prstGeom prst="rect">
            <a:avLst/>
          </a:prstGeom>
        </p:spPr>
      </p:pic>
      <p:sp>
        <p:nvSpPr>
          <p:cNvPr id="8" name="TextBox 7">
            <a:extLst>
              <a:ext uri="{FF2B5EF4-FFF2-40B4-BE49-F238E27FC236}">
                <a16:creationId xmlns:a16="http://schemas.microsoft.com/office/drawing/2014/main" id="{9A5FEEB0-4156-AC16-3B10-2FDB35106089}"/>
              </a:ext>
            </a:extLst>
          </p:cNvPr>
          <p:cNvSpPr txBox="1"/>
          <p:nvPr/>
        </p:nvSpPr>
        <p:spPr>
          <a:xfrm>
            <a:off x="7040880" y="1737360"/>
            <a:ext cx="4171976" cy="369332"/>
          </a:xfrm>
          <a:prstGeom prst="rect">
            <a:avLst/>
          </a:prstGeom>
          <a:noFill/>
        </p:spPr>
        <p:txBody>
          <a:bodyPr wrap="none" rtlCol="0">
            <a:spAutoFit/>
          </a:bodyPr>
          <a:lstStyle/>
          <a:p>
            <a:r>
              <a:rPr lang="en-US" dirty="0">
                <a:latin typeface="Copperplate Gothic Light" panose="020E0507020206020404" pitchFamily="34" charset="0"/>
              </a:rPr>
              <a:t>MODEL WITH THEIR ACCURACY:</a:t>
            </a:r>
            <a:endParaRPr lang="en-IN" dirty="0">
              <a:latin typeface="Copperplate Gothic Light" panose="020E0507020206020404" pitchFamily="34" charset="0"/>
            </a:endParaRPr>
          </a:p>
        </p:txBody>
      </p:sp>
    </p:spTree>
    <p:extLst>
      <p:ext uri="{BB962C8B-B14F-4D97-AF65-F5344CB8AC3E}">
        <p14:creationId xmlns:p14="http://schemas.microsoft.com/office/powerpoint/2010/main" val="273178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ight spots">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a:normAutofit/>
          </a:bodyPr>
          <a:lstStyle/>
          <a:p>
            <a:r>
              <a:rPr lang="en-US" dirty="0"/>
              <a:t>Thank You!</a:t>
            </a:r>
          </a:p>
        </p:txBody>
      </p:sp>
    </p:spTree>
    <p:extLst>
      <p:ext uri="{BB962C8B-B14F-4D97-AF65-F5344CB8AC3E}">
        <p14:creationId xmlns:p14="http://schemas.microsoft.com/office/powerpoint/2010/main" val="29399308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08B90B-70ED-4539-9C14-FB2728D906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3.xml><?xml version="1.0" encoding="utf-8"?>
<ds:datastoreItem xmlns:ds="http://schemas.openxmlformats.org/officeDocument/2006/customXml" ds:itemID="{9E8D3305-1D9D-4BC8-A40F-6F8AE50BD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design</Template>
  <TotalTime>385</TotalTime>
  <Words>765</Words>
  <Application>Microsoft Office PowerPoint</Application>
  <PresentationFormat>Widescreen</PresentationFormat>
  <Paragraphs>109</Paragraphs>
  <Slides>13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Copperplate Gothic Bold</vt:lpstr>
      <vt:lpstr>Copperplate Gothic Light</vt:lpstr>
      <vt:lpstr>Times New Roman</vt:lpstr>
      <vt:lpstr>Wingdings</vt:lpstr>
      <vt:lpstr>Celestial</vt:lpstr>
      <vt:lpstr>STUDENT PERFORMANCE PREDICTION</vt:lpstr>
      <vt:lpstr>PROBLEM sTATEMENT</vt:lpstr>
      <vt:lpstr>Aim of the project</vt:lpstr>
      <vt:lpstr>PowerPoint Presentation</vt:lpstr>
      <vt:lpstr>PREPROCESSING</vt:lpstr>
      <vt:lpstr> CLASSIFICATION MODELS </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Aman</dc:creator>
  <cp:lastModifiedBy>Sahil Aman</cp:lastModifiedBy>
  <cp:revision>9</cp:revision>
  <dcterms:created xsi:type="dcterms:W3CDTF">2025-11-14T03:10:21Z</dcterms:created>
  <dcterms:modified xsi:type="dcterms:W3CDTF">2025-11-14T16:08:39Z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